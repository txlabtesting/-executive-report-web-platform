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00" r:id="rId2"/>
    <p:sldId id="256" r:id="rId3"/>
    <p:sldId id="257" r:id="rId4"/>
    <p:sldId id="258" r:id="rId5"/>
    <p:sldId id="259" r:id="rId6"/>
    <p:sldId id="308" r:id="rId7"/>
    <p:sldId id="30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8DBF"/>
    <a:srgbClr val="00B4D3"/>
    <a:srgbClr val="05A7D4"/>
    <a:srgbClr val="B5EAFD"/>
    <a:srgbClr val="E5FBFF"/>
    <a:srgbClr val="EFE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52DC8-730D-E786-BAA5-8CDE061BEBD5}" v="299" dt="2026-05-22T09:36:28.866"/>
    <p1510:client id="{6939F4BA-91A1-45F0-93A8-3448810E094B}" v="964" dt="2026-05-22T09:33:30.577"/>
    <p1510:client id="{DE7F4957-E529-BF37-7C72-1A70D49D2B63}" v="7" dt="2026-05-22T09:13:35.038"/>
    <p1510:client id="{E479E98D-9C69-4B07-B7D4-FE6BFF9329EC}" v="1" dt="2026-05-22T09:37:41.776"/>
    <p1510:client id="{F55F4929-EBFC-4E22-FC27-24CB7C2CECD7}" v="30" dt="2026-05-22T09:12:09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>
        <p:scale>
          <a:sx n="77" d="100"/>
          <a:sy n="77" d="100"/>
        </p:scale>
        <p:origin x="76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97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3CED-A6B2-DF3B-D155-D2DE24CB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B7228-60BA-0CC3-8A40-D11EAB99C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77B38-C0EB-44EE-617D-4A16E9A72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80FA0-D5B5-6D27-46E4-1EA191560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6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97D5-4632-1F29-10A3-46D4E37A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B884F-00EE-F578-038F-7B16D3271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CEE78-584A-6380-C464-FF32158A8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B6B77-59FF-A912-9CFB-8F2278DEB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3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268F7-40B5-B54D-A30A-77497BA0D3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F6AA90-E865-DA4B-808D-326EDB342CBE}"/>
              </a:ext>
            </a:extLst>
          </p:cNvPr>
          <p:cNvCxnSpPr>
            <a:cxnSpLocks/>
          </p:cNvCxnSpPr>
          <p:nvPr userDrawn="1"/>
        </p:nvCxnSpPr>
        <p:spPr>
          <a:xfrm>
            <a:off x="914316" y="2762238"/>
            <a:ext cx="266482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5BFC16-6449-3442-94C8-4381073959F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317" y="2938030"/>
            <a:ext cx="7636713" cy="1899419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buNone/>
              <a:defRPr lang="en-US" sz="5400" b="1" i="0" kern="1200" dirty="0" smtClean="0">
                <a:ln w="28575">
                  <a:noFill/>
                </a:ln>
                <a:solidFill>
                  <a:schemeClr val="bg1"/>
                </a:solidFill>
                <a:latin typeface="Certo Sans Bold" pitchFamily="2" charset="77"/>
                <a:ea typeface="Logical Bold" panose="020B0503030202020204" pitchFamily="34" charset="77"/>
                <a:cs typeface="SST Arabic" panose="020B0504030504020204" pitchFamily="34" charset="-78"/>
              </a:defRPr>
            </a:lvl1pPr>
            <a:lvl2pPr>
              <a:defRPr lang="en-US" sz="4400" b="1" i="0" kern="1200" dirty="0" smtClean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2pPr>
            <a:lvl3pPr>
              <a:defRPr lang="en-US" sz="4400" b="1" i="0" kern="1200" dirty="0" smtClean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3pPr>
            <a:lvl4pPr>
              <a:defRPr lang="en-US" sz="4400" b="1" i="0" kern="1200" dirty="0" smtClean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4pPr>
            <a:lvl5pPr>
              <a:defRPr lang="en-AE" sz="4400" b="1" i="0" kern="1200" dirty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5pPr>
          </a:lstStyle>
          <a:p>
            <a:pPr lvl="0"/>
            <a:r>
              <a:rPr lang="en-US"/>
              <a:t>World Governments Summit</a:t>
            </a:r>
            <a:endParaRPr lang="en-AE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0442EA-A0C6-5D41-B34A-685FA13EEEB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4316" y="4866844"/>
            <a:ext cx="7636713" cy="377892"/>
          </a:xfrm>
        </p:spPr>
        <p:txBody>
          <a:bodyPr lIns="0" tIns="0" rIns="0" bIns="0">
            <a:noAutofit/>
          </a:bodyPr>
          <a:lstStyle>
            <a:lvl1pPr marL="0" indent="0" algn="l" rtl="1">
              <a:buNone/>
              <a:defRPr lang="en-US" sz="2400" b="0" i="0" kern="1200" dirty="0" smtClean="0">
                <a:ln w="28575">
                  <a:noFill/>
                </a:ln>
                <a:solidFill>
                  <a:schemeClr val="bg1"/>
                </a:solidFill>
                <a:latin typeface="Certo Sans Light" pitchFamily="2" charset="77"/>
                <a:ea typeface="Logical Bold" panose="020B0503030202020204" pitchFamily="34" charset="77"/>
                <a:cs typeface="ITC Handel Gothic Arabic Bold" panose="020B0504040402020203" pitchFamily="34" charset="-78"/>
              </a:defRPr>
            </a:lvl1pPr>
            <a:lvl2pPr>
              <a:defRPr lang="en-US" sz="4400" b="1" i="0" kern="1200" dirty="0" smtClean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2pPr>
            <a:lvl3pPr>
              <a:defRPr lang="en-US" sz="4400" b="1" i="0" kern="1200" dirty="0" smtClean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3pPr>
            <a:lvl4pPr>
              <a:defRPr lang="en-US" sz="4400" b="1" i="0" kern="1200" dirty="0" smtClean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4pPr>
            <a:lvl5pPr>
              <a:defRPr lang="en-AE" sz="4400" b="1" i="0" kern="1200" dirty="0">
                <a:ln w="28575">
                  <a:noFill/>
                </a:ln>
                <a:solidFill>
                  <a:schemeClr val="bg1"/>
                </a:solidFill>
                <a:latin typeface="SST Arabic" panose="020B0504030504020204" pitchFamily="34" charset="-78"/>
                <a:ea typeface="Logical Bold" panose="020B0503030202020204" pitchFamily="34" charset="77"/>
                <a:cs typeface="SST Arabic" panose="020B0504030504020204" pitchFamily="34" charset="-78"/>
              </a:defRPr>
            </a:lvl5pPr>
          </a:lstStyle>
          <a:p>
            <a:pPr lvl="0"/>
            <a:r>
              <a:rPr lang="en-US"/>
              <a:t>subtitle</a:t>
            </a:r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7D867C-7DBA-804E-935F-A689E5EE23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4316" y="1694586"/>
            <a:ext cx="2907634" cy="65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0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78519E-FFB4-F171-8E4A-45B6DA3FB9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17" y="2938030"/>
            <a:ext cx="9289049" cy="1899419"/>
          </a:xfrm>
        </p:spPr>
        <p:txBody>
          <a:bodyPr/>
          <a:lstStyle/>
          <a:p>
            <a:r>
              <a:rPr lang="en-US">
                <a:latin typeface="Logical" panose="020B0503030202020204" pitchFamily="34" charset="0"/>
                <a:ea typeface="Logical" panose="020B0503030202020204" pitchFamily="34" charset="0"/>
              </a:rPr>
              <a:t>Digital Transformation Strategy 2027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5F61CEC7-46AB-C888-EC21-D47FDBCA0A54}"/>
              </a:ext>
            </a:extLst>
          </p:cNvPr>
          <p:cNvSpPr/>
          <p:nvPr/>
        </p:nvSpPr>
        <p:spPr>
          <a:xfrm>
            <a:off x="793547" y="5008496"/>
            <a:ext cx="632575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STATUS REPORT</a:t>
            </a: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C62BFC55-AD56-5B0F-ACC9-E367CC8C9F8F}"/>
              </a:ext>
            </a:extLst>
          </p:cNvPr>
          <p:cNvSpPr/>
          <p:nvPr/>
        </p:nvSpPr>
        <p:spPr>
          <a:xfrm>
            <a:off x="10929668" y="167353"/>
            <a:ext cx="104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31st July 2026</a:t>
            </a:r>
            <a:endParaRPr lang="en-US" sz="1000">
              <a:solidFill>
                <a:schemeClr val="bg1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15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">
            <a:extLst>
              <a:ext uri="{FF2B5EF4-FFF2-40B4-BE49-F238E27FC236}">
                <a16:creationId xmlns:a16="http://schemas.microsoft.com/office/drawing/2014/main" id="{4A49ED1B-2388-1E95-0544-905F1D7A2A3B}"/>
              </a:ext>
            </a:extLst>
          </p:cNvPr>
          <p:cNvSpPr/>
          <p:nvPr/>
        </p:nvSpPr>
        <p:spPr>
          <a:xfrm>
            <a:off x="6762050" y="1508241"/>
            <a:ext cx="1994823" cy="2130399"/>
          </a:xfrm>
          <a:prstGeom prst="roundRect">
            <a:avLst>
              <a:gd name="adj" fmla="val 7273"/>
            </a:avLst>
          </a:prstGeom>
          <a:solidFill>
            <a:srgbClr val="00B4D3"/>
          </a:solidFill>
          <a:ln w="635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A3154C1-7BDE-BA0F-5119-A4E37C53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741" y="923468"/>
            <a:ext cx="495300" cy="503694"/>
          </a:xfrm>
          <a:prstGeom prst="rect">
            <a:avLst/>
          </a:prstGeom>
        </p:spPr>
      </p:pic>
      <p:sp>
        <p:nvSpPr>
          <p:cNvPr id="51" name="hdr_bar_1">
            <a:extLst>
              <a:ext uri="{FF2B5EF4-FFF2-40B4-BE49-F238E27FC236}">
                <a16:creationId xmlns:a16="http://schemas.microsoft.com/office/drawing/2014/main" id="{BEB174BF-B967-0C37-E933-4B12F5C801BE}"/>
              </a:ext>
            </a:extLst>
          </p:cNvPr>
          <p:cNvSpPr/>
          <p:nvPr/>
        </p:nvSpPr>
        <p:spPr>
          <a:xfrm>
            <a:off x="4570316" y="8"/>
            <a:ext cx="7621684" cy="136834"/>
          </a:xfrm>
          <a:custGeom>
            <a:avLst/>
            <a:gdLst/>
            <a:ahLst/>
            <a:cxnLst/>
            <a:rect l="l" t="t" r="r" b="b"/>
            <a:pathLst>
              <a:path w="9936480" h="213360">
                <a:moveTo>
                  <a:pt x="9936096" y="0"/>
                </a:moveTo>
                <a:lnTo>
                  <a:pt x="1776" y="0"/>
                </a:lnTo>
                <a:lnTo>
                  <a:pt x="0" y="213004"/>
                </a:lnTo>
                <a:lnTo>
                  <a:pt x="9936096" y="213004"/>
                </a:lnTo>
                <a:lnTo>
                  <a:pt x="9936096" y="0"/>
                </a:lnTo>
                <a:close/>
              </a:path>
            </a:pathLst>
          </a:custGeom>
          <a:solidFill>
            <a:srgbClr val="05A7D4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52" name="hdr_bar_2">
            <a:extLst>
              <a:ext uri="{FF2B5EF4-FFF2-40B4-BE49-F238E27FC236}">
                <a16:creationId xmlns:a16="http://schemas.microsoft.com/office/drawing/2014/main" id="{23BFEB78-735C-A5E7-89CE-5E6A1E2C58C1}"/>
              </a:ext>
            </a:extLst>
          </p:cNvPr>
          <p:cNvSpPr/>
          <p:nvPr/>
        </p:nvSpPr>
        <p:spPr>
          <a:xfrm>
            <a:off x="5003684" y="8"/>
            <a:ext cx="5374815" cy="136834"/>
          </a:xfrm>
          <a:custGeom>
            <a:avLst/>
            <a:gdLst/>
            <a:ahLst/>
            <a:cxnLst/>
            <a:rect l="l" t="t" r="r" b="b"/>
            <a:pathLst>
              <a:path w="8380730" h="213360">
                <a:moveTo>
                  <a:pt x="8380537" y="0"/>
                </a:moveTo>
                <a:lnTo>
                  <a:pt x="63907" y="0"/>
                </a:lnTo>
                <a:lnTo>
                  <a:pt x="0" y="213004"/>
                </a:lnTo>
                <a:lnTo>
                  <a:pt x="8324601" y="213004"/>
                </a:lnTo>
                <a:lnTo>
                  <a:pt x="8380537" y="0"/>
                </a:lnTo>
                <a:close/>
              </a:path>
            </a:pathLst>
          </a:custGeom>
          <a:solidFill>
            <a:srgbClr val="058DBF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53" name="hdr_bar_3">
            <a:extLst>
              <a:ext uri="{FF2B5EF4-FFF2-40B4-BE49-F238E27FC236}">
                <a16:creationId xmlns:a16="http://schemas.microsoft.com/office/drawing/2014/main" id="{7487EDC7-1A4B-0FBB-9AF0-A1B3E6F388E8}"/>
              </a:ext>
            </a:extLst>
          </p:cNvPr>
          <p:cNvSpPr/>
          <p:nvPr/>
        </p:nvSpPr>
        <p:spPr>
          <a:xfrm>
            <a:off x="1358270" y="8"/>
            <a:ext cx="8012539" cy="136834"/>
          </a:xfrm>
          <a:custGeom>
            <a:avLst/>
            <a:gdLst/>
            <a:ahLst/>
            <a:cxnLst/>
            <a:rect l="l" t="t" r="r" b="b"/>
            <a:pathLst>
              <a:path w="12493625" h="213360">
                <a:moveTo>
                  <a:pt x="12493264" y="0"/>
                </a:moveTo>
                <a:lnTo>
                  <a:pt x="0" y="0"/>
                </a:lnTo>
                <a:lnTo>
                  <a:pt x="0" y="213004"/>
                </a:lnTo>
                <a:lnTo>
                  <a:pt x="12433503" y="213004"/>
                </a:lnTo>
                <a:lnTo>
                  <a:pt x="12493264" y="0"/>
                </a:lnTo>
                <a:close/>
              </a:path>
            </a:pathLst>
          </a:custGeom>
          <a:solidFill>
            <a:srgbClr val="00B4D3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54" name="hdr_bar_4">
            <a:extLst>
              <a:ext uri="{FF2B5EF4-FFF2-40B4-BE49-F238E27FC236}">
                <a16:creationId xmlns:a16="http://schemas.microsoft.com/office/drawing/2014/main" id="{2685DA47-AECB-6C5C-AFFF-A320E061D8EF}"/>
              </a:ext>
            </a:extLst>
          </p:cNvPr>
          <p:cNvSpPr/>
          <p:nvPr/>
        </p:nvSpPr>
        <p:spPr>
          <a:xfrm>
            <a:off x="1245716" y="8"/>
            <a:ext cx="1497439" cy="136834"/>
          </a:xfrm>
          <a:custGeom>
            <a:avLst/>
            <a:gdLst/>
            <a:ahLst/>
            <a:cxnLst/>
            <a:rect l="l" t="t" r="r" b="b"/>
            <a:pathLst>
              <a:path w="2334895" h="213360">
                <a:moveTo>
                  <a:pt x="2323665" y="0"/>
                </a:moveTo>
                <a:lnTo>
                  <a:pt x="0" y="0"/>
                </a:lnTo>
                <a:lnTo>
                  <a:pt x="0" y="213004"/>
                </a:lnTo>
                <a:lnTo>
                  <a:pt x="2334775" y="213004"/>
                </a:lnTo>
                <a:lnTo>
                  <a:pt x="2323665" y="0"/>
                </a:lnTo>
                <a:close/>
              </a:path>
            </a:pathLst>
          </a:custGeom>
          <a:solidFill>
            <a:srgbClr val="05A7D4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55" name="hdr_bar_5">
            <a:extLst>
              <a:ext uri="{FF2B5EF4-FFF2-40B4-BE49-F238E27FC236}">
                <a16:creationId xmlns:a16="http://schemas.microsoft.com/office/drawing/2014/main" id="{F2AC993C-E836-8E77-B602-4376F84188A3}"/>
              </a:ext>
            </a:extLst>
          </p:cNvPr>
          <p:cNvSpPr/>
          <p:nvPr/>
        </p:nvSpPr>
        <p:spPr>
          <a:xfrm>
            <a:off x="0" y="8"/>
            <a:ext cx="2229619" cy="136834"/>
          </a:xfrm>
          <a:custGeom>
            <a:avLst/>
            <a:gdLst/>
            <a:ahLst/>
            <a:cxnLst/>
            <a:rect l="l" t="t" r="r" b="b"/>
            <a:pathLst>
              <a:path w="1534160" h="213360">
                <a:moveTo>
                  <a:pt x="1534156" y="0"/>
                </a:moveTo>
                <a:lnTo>
                  <a:pt x="0" y="0"/>
                </a:lnTo>
                <a:lnTo>
                  <a:pt x="0" y="213004"/>
                </a:lnTo>
                <a:lnTo>
                  <a:pt x="1478220" y="213004"/>
                </a:lnTo>
                <a:lnTo>
                  <a:pt x="1534156" y="0"/>
                </a:lnTo>
                <a:close/>
              </a:path>
            </a:pathLst>
          </a:custGeom>
          <a:solidFill>
            <a:srgbClr val="058DBF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6ECD4BA2-5464-DE90-7BBA-866490AA87C8}"/>
              </a:ext>
            </a:extLst>
          </p:cNvPr>
          <p:cNvSpPr/>
          <p:nvPr/>
        </p:nvSpPr>
        <p:spPr>
          <a:xfrm>
            <a:off x="3135647" y="1508243"/>
            <a:ext cx="1997025" cy="2130397"/>
          </a:xfrm>
          <a:prstGeom prst="roundRect">
            <a:avLst>
              <a:gd name="adj" fmla="val 7273"/>
            </a:avLst>
          </a:prstGeom>
          <a:solidFill>
            <a:srgbClr val="00B4D3"/>
          </a:solidFill>
          <a:ln w="635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9BE19B1C-7476-0DDB-B00C-E599061BCD47}"/>
              </a:ext>
            </a:extLst>
          </p:cNvPr>
          <p:cNvSpPr/>
          <p:nvPr/>
        </p:nvSpPr>
        <p:spPr>
          <a:xfrm>
            <a:off x="2668501" y="189387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8</a:t>
            </a:r>
            <a:endParaRPr lang="en-US" sz="6600" dirty="0">
              <a:solidFill>
                <a:schemeClr val="bg1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AE0BE3D7-F537-1C09-B2C6-4CCF3295DB69}"/>
              </a:ext>
            </a:extLst>
          </p:cNvPr>
          <p:cNvSpPr/>
          <p:nvPr/>
        </p:nvSpPr>
        <p:spPr>
          <a:xfrm>
            <a:off x="3382586" y="2960266"/>
            <a:ext cx="1540570" cy="245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600" b="1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Sessions
Held</a:t>
            </a:r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CBD13B73-3B9E-A704-EAB4-CC32278F949E}"/>
              </a:ext>
            </a:extLst>
          </p:cNvPr>
          <p:cNvSpPr/>
          <p:nvPr/>
        </p:nvSpPr>
        <p:spPr>
          <a:xfrm>
            <a:off x="6221077" y="2912601"/>
            <a:ext cx="1721233" cy="245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600" b="1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 </a:t>
            </a:r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A32B33CF-D9CD-1F8E-38DF-26F2EE3B872E}"/>
              </a:ext>
            </a:extLst>
          </p:cNvPr>
          <p:cNvSpPr/>
          <p:nvPr/>
        </p:nvSpPr>
        <p:spPr>
          <a:xfrm>
            <a:off x="3193428" y="1945263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600" b="1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 </a:t>
            </a:r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279A9008-0634-3597-E8C3-43C3909BA730}"/>
              </a:ext>
            </a:extLst>
          </p:cNvPr>
          <p:cNvSpPr/>
          <p:nvPr/>
        </p:nvSpPr>
        <p:spPr>
          <a:xfrm>
            <a:off x="3979408" y="2590523"/>
            <a:ext cx="1412553" cy="9721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 </a:t>
            </a:r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B0A1BD6B-8E48-9AB6-0547-EE8144D19F5C}"/>
              </a:ext>
            </a:extLst>
          </p:cNvPr>
          <p:cNvSpPr/>
          <p:nvPr/>
        </p:nvSpPr>
        <p:spPr>
          <a:xfrm>
            <a:off x="6302284" y="19861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✔</a:t>
            </a:r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01146111-AA18-3FFA-D626-5E02E98FBE41}"/>
              </a:ext>
            </a:extLst>
          </p:cNvPr>
          <p:cNvSpPr/>
          <p:nvPr/>
        </p:nvSpPr>
        <p:spPr>
          <a:xfrm>
            <a:off x="6946276" y="2963856"/>
            <a:ext cx="1626370" cy="245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Governance Established</a:t>
            </a:r>
          </a:p>
        </p:txBody>
      </p:sp>
      <p:sp>
        <p:nvSpPr>
          <p:cNvPr id="88" name="Text 24">
            <a:extLst>
              <a:ext uri="{FF2B5EF4-FFF2-40B4-BE49-F238E27FC236}">
                <a16:creationId xmlns:a16="http://schemas.microsoft.com/office/drawing/2014/main" id="{BC53EA0C-913E-A4D4-24BE-A2A56FF6461B}"/>
              </a:ext>
            </a:extLst>
          </p:cNvPr>
          <p:cNvSpPr/>
          <p:nvPr/>
        </p:nvSpPr>
        <p:spPr>
          <a:xfrm>
            <a:off x="891124" y="4068304"/>
            <a:ext cx="401730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Overall Status- Report Update Covers</a:t>
            </a:r>
          </a:p>
          <a:p>
            <a:pPr marL="0" indent="0">
              <a:buNone/>
            </a:pPr>
            <a:endParaRPr lang="en-US" sz="1200" b="1">
              <a:ln w="28575">
                <a:noFill/>
              </a:ln>
              <a:solidFill>
                <a:srgbClr val="00B4D3"/>
              </a:solidFill>
              <a:latin typeface="Logical" panose="020B0503030202020204" pitchFamily="34" charset="0"/>
              <a:ea typeface="Logical" panose="020B0503030202020204" pitchFamily="34" charset="0"/>
              <a:cs typeface="SST Arabic" panose="020B0504030504020204" pitchFamily="34" charset="-78"/>
            </a:endParaRPr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B5F72AEA-B910-E937-DFC5-3EA52D9151B1}"/>
              </a:ext>
            </a:extLst>
          </p:cNvPr>
          <p:cNvSpPr/>
          <p:nvPr/>
        </p:nvSpPr>
        <p:spPr>
          <a:xfrm>
            <a:off x="1800182" y="4554058"/>
            <a:ext cx="274320" cy="311672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</a:rPr>
              <a:t>1</a:t>
            </a:r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CBD56D9C-4625-C9BE-7D52-3BD22E232C70}"/>
              </a:ext>
            </a:extLst>
          </p:cNvPr>
          <p:cNvSpPr/>
          <p:nvPr/>
        </p:nvSpPr>
        <p:spPr>
          <a:xfrm>
            <a:off x="4273188" y="4828464"/>
            <a:ext cx="274320" cy="39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/>
          </a:p>
        </p:txBody>
      </p:sp>
      <p:sp>
        <p:nvSpPr>
          <p:cNvPr id="93" name="Text 29">
            <a:extLst>
              <a:ext uri="{FF2B5EF4-FFF2-40B4-BE49-F238E27FC236}">
                <a16:creationId xmlns:a16="http://schemas.microsoft.com/office/drawing/2014/main" id="{A2DEE0A3-0F3E-8367-5B6B-B20E2B34BE39}"/>
              </a:ext>
            </a:extLst>
          </p:cNvPr>
          <p:cNvSpPr/>
          <p:nvPr/>
        </p:nvSpPr>
        <p:spPr>
          <a:xfrm>
            <a:off x="2172675" y="4608619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Meetings Held — 8 Sessions</a:t>
            </a:r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F0BA36A5-4447-3164-5EF2-F75C764A0F5C}"/>
              </a:ext>
            </a:extLst>
          </p:cNvPr>
          <p:cNvSpPr/>
          <p:nvPr/>
        </p:nvSpPr>
        <p:spPr>
          <a:xfrm>
            <a:off x="7242402" y="48409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/>
          </a:p>
        </p:txBody>
      </p:sp>
      <p:sp>
        <p:nvSpPr>
          <p:cNvPr id="96" name="Text 32">
            <a:extLst>
              <a:ext uri="{FF2B5EF4-FFF2-40B4-BE49-F238E27FC236}">
                <a16:creationId xmlns:a16="http://schemas.microsoft.com/office/drawing/2014/main" id="{2FD2A729-9849-B4A0-6AFE-DC02150D23AD}"/>
              </a:ext>
            </a:extLst>
          </p:cNvPr>
          <p:cNvSpPr/>
          <p:nvPr/>
        </p:nvSpPr>
        <p:spPr>
          <a:xfrm>
            <a:off x="6890100" y="4626559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Workstream Progress — Program Portal</a:t>
            </a:r>
          </a:p>
        </p:txBody>
      </p:sp>
      <p:sp>
        <p:nvSpPr>
          <p:cNvPr id="99" name="Text 35">
            <a:extLst>
              <a:ext uri="{FF2B5EF4-FFF2-40B4-BE49-F238E27FC236}">
                <a16:creationId xmlns:a16="http://schemas.microsoft.com/office/drawing/2014/main" id="{ED023363-8DB4-2CF5-AEB2-56215B27CAC0}"/>
              </a:ext>
            </a:extLst>
          </p:cNvPr>
          <p:cNvSpPr/>
          <p:nvPr/>
        </p:nvSpPr>
        <p:spPr>
          <a:xfrm>
            <a:off x="2172675" y="5261163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Salesforce Discovery &amp; Governance</a:t>
            </a:r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39B85D6F-2C3B-2B10-3841-84879EC2DD18}"/>
              </a:ext>
            </a:extLst>
          </p:cNvPr>
          <p:cNvSpPr/>
          <p:nvPr/>
        </p:nvSpPr>
        <p:spPr>
          <a:xfrm>
            <a:off x="7242402" y="53896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/>
          </a:p>
        </p:txBody>
      </p:sp>
      <p:sp>
        <p:nvSpPr>
          <p:cNvPr id="102" name="Text 38">
            <a:extLst>
              <a:ext uri="{FF2B5EF4-FFF2-40B4-BE49-F238E27FC236}">
                <a16:creationId xmlns:a16="http://schemas.microsoft.com/office/drawing/2014/main" id="{8D42AEFE-874B-763B-0660-D748ABBA59AF}"/>
              </a:ext>
            </a:extLst>
          </p:cNvPr>
          <p:cNvSpPr/>
          <p:nvPr/>
        </p:nvSpPr>
        <p:spPr>
          <a:xfrm>
            <a:off x="6890100" y="532997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Mobile App &amp; AI Agents Reviewed</a:t>
            </a:r>
          </a:p>
        </p:txBody>
      </p:sp>
      <p:sp>
        <p:nvSpPr>
          <p:cNvPr id="105" name="Text 41">
            <a:extLst>
              <a:ext uri="{FF2B5EF4-FFF2-40B4-BE49-F238E27FC236}">
                <a16:creationId xmlns:a16="http://schemas.microsoft.com/office/drawing/2014/main" id="{E4F8C56B-A268-A710-056D-176FDFABF9D0}"/>
              </a:ext>
            </a:extLst>
          </p:cNvPr>
          <p:cNvSpPr/>
          <p:nvPr/>
        </p:nvSpPr>
        <p:spPr>
          <a:xfrm>
            <a:off x="2136488" y="5966157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Key Decisions &amp; Risks</a:t>
            </a:r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890B452D-7669-F2B6-2A26-98835D59DFAE}"/>
              </a:ext>
            </a:extLst>
          </p:cNvPr>
          <p:cNvSpPr/>
          <p:nvPr/>
        </p:nvSpPr>
        <p:spPr>
          <a:xfrm>
            <a:off x="6890100" y="603339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ln w="28575">
                  <a:noFill/>
                </a:ln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Action Items &amp; Next Steps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4ECB1-C26A-644E-121F-8E9255EC2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598"/>
            <a:ext cx="12192000" cy="618054"/>
          </a:xfrm>
          <a:prstGeom prst="rect">
            <a:avLst/>
          </a:prstGeom>
        </p:spPr>
      </p:pic>
      <p:sp>
        <p:nvSpPr>
          <p:cNvPr id="73" name="Text 9">
            <a:extLst>
              <a:ext uri="{FF2B5EF4-FFF2-40B4-BE49-F238E27FC236}">
                <a16:creationId xmlns:a16="http://schemas.microsoft.com/office/drawing/2014/main" id="{629655A6-AA4E-FDDA-B118-E3BCB9E4677C}"/>
              </a:ext>
            </a:extLst>
          </p:cNvPr>
          <p:cNvSpPr/>
          <p:nvPr/>
        </p:nvSpPr>
        <p:spPr>
          <a:xfrm>
            <a:off x="182016" y="3657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ct val="20000"/>
              </a:spcBef>
            </a:pPr>
            <a:r>
              <a:rPr lang="en-US" sz="2400" b="1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Programme at a Glance</a:t>
            </a:r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BD47BDCB-24DD-B311-B782-E9527453297A}"/>
              </a:ext>
            </a:extLst>
          </p:cNvPr>
          <p:cNvSpPr/>
          <p:nvPr/>
        </p:nvSpPr>
        <p:spPr>
          <a:xfrm>
            <a:off x="182016" y="3474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r>
              <a:rPr lang="en-US" sz="1200" b="1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WGS Digital Transformation 2027 — Internal Status Update</a:t>
            </a:r>
          </a:p>
        </p:txBody>
      </p:sp>
      <p:sp>
        <p:nvSpPr>
          <p:cNvPr id="6" name="Shape 27">
            <a:extLst>
              <a:ext uri="{FF2B5EF4-FFF2-40B4-BE49-F238E27FC236}">
                <a16:creationId xmlns:a16="http://schemas.microsoft.com/office/drawing/2014/main" id="{1A146C40-3AFC-E2CE-6BF8-31EAFD30B361}"/>
              </a:ext>
            </a:extLst>
          </p:cNvPr>
          <p:cNvSpPr/>
          <p:nvPr/>
        </p:nvSpPr>
        <p:spPr>
          <a:xfrm>
            <a:off x="1800182" y="5256764"/>
            <a:ext cx="274320" cy="311672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</a:rPr>
              <a:t>3</a:t>
            </a:r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98C58936-9759-43A0-C516-43AF496EDF79}"/>
              </a:ext>
            </a:extLst>
          </p:cNvPr>
          <p:cNvSpPr/>
          <p:nvPr/>
        </p:nvSpPr>
        <p:spPr>
          <a:xfrm>
            <a:off x="1800182" y="5959470"/>
            <a:ext cx="274320" cy="311672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</a:rPr>
              <a:t>5</a:t>
            </a:r>
          </a:p>
        </p:txBody>
      </p:sp>
      <p:sp>
        <p:nvSpPr>
          <p:cNvPr id="8" name="Shape 27">
            <a:extLst>
              <a:ext uri="{FF2B5EF4-FFF2-40B4-BE49-F238E27FC236}">
                <a16:creationId xmlns:a16="http://schemas.microsoft.com/office/drawing/2014/main" id="{5768991E-AE0F-DC04-EA01-15FB32825483}"/>
              </a:ext>
            </a:extLst>
          </p:cNvPr>
          <p:cNvSpPr/>
          <p:nvPr/>
        </p:nvSpPr>
        <p:spPr>
          <a:xfrm>
            <a:off x="6519354" y="4560745"/>
            <a:ext cx="274320" cy="311672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</a:rPr>
              <a:t>2</a:t>
            </a:r>
          </a:p>
        </p:txBody>
      </p:sp>
      <p:sp>
        <p:nvSpPr>
          <p:cNvPr id="9" name="Shape 27">
            <a:extLst>
              <a:ext uri="{FF2B5EF4-FFF2-40B4-BE49-F238E27FC236}">
                <a16:creationId xmlns:a16="http://schemas.microsoft.com/office/drawing/2014/main" id="{9E6B5BF2-36AA-0B5B-788A-8495564B9484}"/>
              </a:ext>
            </a:extLst>
          </p:cNvPr>
          <p:cNvSpPr/>
          <p:nvPr/>
        </p:nvSpPr>
        <p:spPr>
          <a:xfrm>
            <a:off x="6519354" y="5263451"/>
            <a:ext cx="274320" cy="311672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</a:rPr>
              <a:t>4</a:t>
            </a:r>
          </a:p>
        </p:txBody>
      </p:sp>
      <p:sp>
        <p:nvSpPr>
          <p:cNvPr id="10" name="Shape 27">
            <a:extLst>
              <a:ext uri="{FF2B5EF4-FFF2-40B4-BE49-F238E27FC236}">
                <a16:creationId xmlns:a16="http://schemas.microsoft.com/office/drawing/2014/main" id="{EB66BDE7-5042-E9BC-A99C-468010AB2813}"/>
              </a:ext>
            </a:extLst>
          </p:cNvPr>
          <p:cNvSpPr/>
          <p:nvPr/>
        </p:nvSpPr>
        <p:spPr>
          <a:xfrm>
            <a:off x="6519354" y="5966157"/>
            <a:ext cx="274320" cy="311672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hdr_bar_1">
            <a:extLst>
              <a:ext uri="{FF2B5EF4-FFF2-40B4-BE49-F238E27FC236}">
                <a16:creationId xmlns:a16="http://schemas.microsoft.com/office/drawing/2014/main" id="{525127E0-4E44-4B28-9923-87579D154DA7}"/>
              </a:ext>
            </a:extLst>
          </p:cNvPr>
          <p:cNvSpPr/>
          <p:nvPr/>
        </p:nvSpPr>
        <p:spPr>
          <a:xfrm>
            <a:off x="4570316" y="8"/>
            <a:ext cx="7621684" cy="136834"/>
          </a:xfrm>
          <a:custGeom>
            <a:avLst/>
            <a:gdLst/>
            <a:ahLst/>
            <a:cxnLst/>
            <a:rect l="l" t="t" r="r" b="b"/>
            <a:pathLst>
              <a:path w="9936480" h="213360">
                <a:moveTo>
                  <a:pt x="9936096" y="0"/>
                </a:moveTo>
                <a:lnTo>
                  <a:pt x="1776" y="0"/>
                </a:lnTo>
                <a:lnTo>
                  <a:pt x="0" y="213004"/>
                </a:lnTo>
                <a:lnTo>
                  <a:pt x="9936096" y="213004"/>
                </a:lnTo>
                <a:lnTo>
                  <a:pt x="9936096" y="0"/>
                </a:lnTo>
                <a:close/>
              </a:path>
            </a:pathLst>
          </a:custGeom>
          <a:solidFill>
            <a:srgbClr val="05A7D4"/>
          </a:solidFill>
        </p:spPr>
        <p:txBody>
          <a:bodyPr wrap="square" lIns="0" tIns="0" rIns="0" bIns="0" rtlCol="0"/>
          <a:lstStyle/>
          <a:p>
            <a:endParaRPr sz="1154">
              <a:latin typeface="Logical"/>
            </a:endParaRPr>
          </a:p>
        </p:txBody>
      </p:sp>
      <p:sp>
        <p:nvSpPr>
          <p:cNvPr id="130" name="hdr_bar_2">
            <a:extLst>
              <a:ext uri="{FF2B5EF4-FFF2-40B4-BE49-F238E27FC236}">
                <a16:creationId xmlns:a16="http://schemas.microsoft.com/office/drawing/2014/main" id="{016874F7-42C1-6BE0-2133-78B53E52BB31}"/>
              </a:ext>
            </a:extLst>
          </p:cNvPr>
          <p:cNvSpPr/>
          <p:nvPr/>
        </p:nvSpPr>
        <p:spPr>
          <a:xfrm>
            <a:off x="5003684" y="8"/>
            <a:ext cx="5374815" cy="136834"/>
          </a:xfrm>
          <a:custGeom>
            <a:avLst/>
            <a:gdLst/>
            <a:ahLst/>
            <a:cxnLst/>
            <a:rect l="l" t="t" r="r" b="b"/>
            <a:pathLst>
              <a:path w="8380730" h="213360">
                <a:moveTo>
                  <a:pt x="8380537" y="0"/>
                </a:moveTo>
                <a:lnTo>
                  <a:pt x="63907" y="0"/>
                </a:lnTo>
                <a:lnTo>
                  <a:pt x="0" y="213004"/>
                </a:lnTo>
                <a:lnTo>
                  <a:pt x="8324601" y="213004"/>
                </a:lnTo>
                <a:lnTo>
                  <a:pt x="8380537" y="0"/>
                </a:lnTo>
                <a:close/>
              </a:path>
            </a:pathLst>
          </a:custGeom>
          <a:solidFill>
            <a:srgbClr val="058DBF"/>
          </a:solidFill>
        </p:spPr>
        <p:txBody>
          <a:bodyPr wrap="square" lIns="0" tIns="0" rIns="0" bIns="0" rtlCol="0"/>
          <a:lstStyle/>
          <a:p>
            <a:endParaRPr sz="1154">
              <a:latin typeface="Logical"/>
            </a:endParaRPr>
          </a:p>
        </p:txBody>
      </p:sp>
      <p:sp>
        <p:nvSpPr>
          <p:cNvPr id="131" name="hdr_bar_3">
            <a:extLst>
              <a:ext uri="{FF2B5EF4-FFF2-40B4-BE49-F238E27FC236}">
                <a16:creationId xmlns:a16="http://schemas.microsoft.com/office/drawing/2014/main" id="{92839292-7120-3742-B5B2-D0C1836C6397}"/>
              </a:ext>
            </a:extLst>
          </p:cNvPr>
          <p:cNvSpPr/>
          <p:nvPr/>
        </p:nvSpPr>
        <p:spPr>
          <a:xfrm>
            <a:off x="1358270" y="8"/>
            <a:ext cx="8012539" cy="136834"/>
          </a:xfrm>
          <a:custGeom>
            <a:avLst/>
            <a:gdLst/>
            <a:ahLst/>
            <a:cxnLst/>
            <a:rect l="l" t="t" r="r" b="b"/>
            <a:pathLst>
              <a:path w="12493625" h="213360">
                <a:moveTo>
                  <a:pt x="12493264" y="0"/>
                </a:moveTo>
                <a:lnTo>
                  <a:pt x="0" y="0"/>
                </a:lnTo>
                <a:lnTo>
                  <a:pt x="0" y="213004"/>
                </a:lnTo>
                <a:lnTo>
                  <a:pt x="12433503" y="213004"/>
                </a:lnTo>
                <a:lnTo>
                  <a:pt x="12493264" y="0"/>
                </a:lnTo>
                <a:close/>
              </a:path>
            </a:pathLst>
          </a:custGeom>
          <a:solidFill>
            <a:srgbClr val="00B4D3"/>
          </a:solidFill>
        </p:spPr>
        <p:txBody>
          <a:bodyPr wrap="square" lIns="0" tIns="0" rIns="0" bIns="0" rtlCol="0"/>
          <a:lstStyle/>
          <a:p>
            <a:endParaRPr sz="1154">
              <a:latin typeface="Logical"/>
            </a:endParaRPr>
          </a:p>
        </p:txBody>
      </p:sp>
      <p:sp>
        <p:nvSpPr>
          <p:cNvPr id="132" name="hdr_bar_4">
            <a:extLst>
              <a:ext uri="{FF2B5EF4-FFF2-40B4-BE49-F238E27FC236}">
                <a16:creationId xmlns:a16="http://schemas.microsoft.com/office/drawing/2014/main" id="{DCDA06C9-0FFA-B760-3FC6-F1BE1F73AF3C}"/>
              </a:ext>
            </a:extLst>
          </p:cNvPr>
          <p:cNvSpPr/>
          <p:nvPr/>
        </p:nvSpPr>
        <p:spPr>
          <a:xfrm>
            <a:off x="1245716" y="8"/>
            <a:ext cx="1497439" cy="136834"/>
          </a:xfrm>
          <a:custGeom>
            <a:avLst/>
            <a:gdLst/>
            <a:ahLst/>
            <a:cxnLst/>
            <a:rect l="l" t="t" r="r" b="b"/>
            <a:pathLst>
              <a:path w="2334895" h="213360">
                <a:moveTo>
                  <a:pt x="2323665" y="0"/>
                </a:moveTo>
                <a:lnTo>
                  <a:pt x="0" y="0"/>
                </a:lnTo>
                <a:lnTo>
                  <a:pt x="0" y="213004"/>
                </a:lnTo>
                <a:lnTo>
                  <a:pt x="2334775" y="213004"/>
                </a:lnTo>
                <a:lnTo>
                  <a:pt x="2323665" y="0"/>
                </a:lnTo>
                <a:close/>
              </a:path>
            </a:pathLst>
          </a:custGeom>
          <a:solidFill>
            <a:srgbClr val="05A7D4"/>
          </a:solidFill>
        </p:spPr>
        <p:txBody>
          <a:bodyPr wrap="square" lIns="0" tIns="0" rIns="0" bIns="0" rtlCol="0"/>
          <a:lstStyle/>
          <a:p>
            <a:endParaRPr sz="1154">
              <a:latin typeface="Logical"/>
            </a:endParaRPr>
          </a:p>
        </p:txBody>
      </p:sp>
      <p:sp>
        <p:nvSpPr>
          <p:cNvPr id="133" name="hdr_bar_5">
            <a:extLst>
              <a:ext uri="{FF2B5EF4-FFF2-40B4-BE49-F238E27FC236}">
                <a16:creationId xmlns:a16="http://schemas.microsoft.com/office/drawing/2014/main" id="{DF2615F2-659F-9D54-1F8D-42C217A4C995}"/>
              </a:ext>
            </a:extLst>
          </p:cNvPr>
          <p:cNvSpPr/>
          <p:nvPr/>
        </p:nvSpPr>
        <p:spPr>
          <a:xfrm>
            <a:off x="0" y="8"/>
            <a:ext cx="2229619" cy="136834"/>
          </a:xfrm>
          <a:custGeom>
            <a:avLst/>
            <a:gdLst/>
            <a:ahLst/>
            <a:cxnLst/>
            <a:rect l="l" t="t" r="r" b="b"/>
            <a:pathLst>
              <a:path w="1534160" h="213360">
                <a:moveTo>
                  <a:pt x="1534156" y="0"/>
                </a:moveTo>
                <a:lnTo>
                  <a:pt x="0" y="0"/>
                </a:lnTo>
                <a:lnTo>
                  <a:pt x="0" y="213004"/>
                </a:lnTo>
                <a:lnTo>
                  <a:pt x="1478220" y="213004"/>
                </a:lnTo>
                <a:lnTo>
                  <a:pt x="1534156" y="0"/>
                </a:lnTo>
                <a:close/>
              </a:path>
            </a:pathLst>
          </a:custGeom>
          <a:solidFill>
            <a:srgbClr val="058DBF"/>
          </a:solidFill>
        </p:spPr>
        <p:txBody>
          <a:bodyPr wrap="square" lIns="0" tIns="0" rIns="0" bIns="0" rtlCol="0"/>
          <a:lstStyle/>
          <a:p>
            <a:endParaRPr sz="1154">
              <a:latin typeface="Logical"/>
            </a:endParaRP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F332A84E-4399-E6B6-CB1B-A9D52FF49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98"/>
            <a:ext cx="12192000" cy="618054"/>
          </a:xfrm>
          <a:prstGeom prst="rect">
            <a:avLst/>
          </a:prstGeom>
        </p:spPr>
      </p:pic>
      <p:sp>
        <p:nvSpPr>
          <p:cNvPr id="136" name="Text 10">
            <a:extLst>
              <a:ext uri="{FF2B5EF4-FFF2-40B4-BE49-F238E27FC236}">
                <a16:creationId xmlns:a16="http://schemas.microsoft.com/office/drawing/2014/main" id="{60DB4A58-2594-717A-55A4-5A6C399A6CA7}"/>
              </a:ext>
            </a:extLst>
          </p:cNvPr>
          <p:cNvSpPr/>
          <p:nvPr/>
        </p:nvSpPr>
        <p:spPr>
          <a:xfrm>
            <a:off x="182016" y="3474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endParaRPr lang="en-US" sz="1200" b="1">
              <a:ln w="28575">
                <a:noFill/>
              </a:ln>
              <a:solidFill>
                <a:schemeClr val="bg1"/>
              </a:solidFill>
              <a:latin typeface="Logical" panose="020B0503030202020204" pitchFamily="34" charset="0"/>
              <a:ea typeface="Logical" panose="020B0503030202020204" pitchFamily="34" charset="0"/>
              <a:cs typeface="SST Arabic" panose="020B0504030504020204" pitchFamily="34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016" y="2711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r>
              <a:rPr lang="en-US" sz="2400" b="1" dirty="0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Meetings Held — Week of 31 July 2026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8 sessions completed  |  MOMs issued  |  Actions in progress</a:t>
            </a:r>
            <a:endParaRPr lang="en-US" sz="1200" dirty="0">
              <a:solidFill>
                <a:srgbClr val="00B4D3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64692"/>
            <a:ext cx="11457432" cy="22860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</a:t>
            </a:r>
          </a:p>
        </p:txBody>
      </p:sp>
      <p:sp>
        <p:nvSpPr>
          <p:cNvPr id="8" name="Shape 6"/>
          <p:cNvSpPr/>
          <p:nvPr/>
        </p:nvSpPr>
        <p:spPr>
          <a:xfrm>
            <a:off x="1254644" y="1321626"/>
            <a:ext cx="3749040" cy="2487168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42452" y="1358202"/>
            <a:ext cx="3749040" cy="384048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33892" y="1394778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01</a:t>
            </a:r>
          </a:p>
        </p:txBody>
      </p:sp>
      <p:sp>
        <p:nvSpPr>
          <p:cNvPr id="12" name="Text 10"/>
          <p:cNvSpPr/>
          <p:nvPr/>
        </p:nvSpPr>
        <p:spPr>
          <a:xfrm>
            <a:off x="1699652" y="142221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 Kickoff &amp; Ways of Working</a:t>
            </a:r>
            <a:endParaRPr lang="en-US" sz="950" dirty="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52180" y="183369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Attendees</a:t>
            </a:r>
          </a:p>
        </p:txBody>
      </p:sp>
      <p:sp>
        <p:nvSpPr>
          <p:cNvPr id="16" name="Text 14"/>
          <p:cNvSpPr/>
          <p:nvPr/>
        </p:nvSpPr>
        <p:spPr>
          <a:xfrm>
            <a:off x="1352180" y="200742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WGS · Salesforce Professional Services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52180" y="234575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Key Outcomes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16188" y="2588790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71052" y="2492778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 engagement kicked off; governance model, delivery methodology and timeline aligned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416188" y="2917974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71052" y="2821962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Governance framework and Agile methodology agreed; RACI reviewed and responsibilities clarified across both teams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16188" y="3247158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471052" y="3151146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Jira confirmed as single source of truth; sprint cadence and Confluence documentation process established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416188" y="3576342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71052" y="3480330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Weekly governance and Friday reporting agreed; WGS to own SIT/UAT and deployments with Salesforce support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01933" y="1363101"/>
            <a:ext cx="3749040" cy="2487168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001933" y="1363101"/>
            <a:ext cx="3749040" cy="384048"/>
          </a:xfrm>
          <a:prstGeom prst="rect">
            <a:avLst/>
          </a:prstGeom>
          <a:solidFill>
            <a:srgbClr val="05A7D4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93373" y="1399677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02</a:t>
            </a:r>
          </a:p>
        </p:txBody>
      </p:sp>
      <p:sp>
        <p:nvSpPr>
          <p:cNvPr id="31" name="Text 29"/>
          <p:cNvSpPr/>
          <p:nvPr/>
        </p:nvSpPr>
        <p:spPr>
          <a:xfrm>
            <a:off x="7459133" y="1427109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Enterprise Architecture &amp; Membership Discovery</a:t>
            </a:r>
            <a:endParaRPr lang="en-US" sz="950" dirty="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11661" y="1838589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Attendees</a:t>
            </a:r>
          </a:p>
        </p:txBody>
      </p:sp>
      <p:sp>
        <p:nvSpPr>
          <p:cNvPr id="35" name="Text 33"/>
          <p:cNvSpPr/>
          <p:nvPr/>
        </p:nvSpPr>
        <p:spPr>
          <a:xfrm>
            <a:off x="7111661" y="2012325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WGS · Salesforce Professional Services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111661" y="2295789"/>
            <a:ext cx="3520440" cy="18288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11661" y="2350653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Key Outcomes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66525" y="2588397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30533" y="2492385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Full walkthrough of the WGS digital ecosystem and end-to-end Partner &amp; Membership module completed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66525" y="2917581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230533" y="2821569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 confirmed as System of Record; membership, nomination, registration and speaker journeys reviewed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166525" y="3246765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30533" y="3150753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Existing object model, integrations and future TenTwenty Community Portal integration into Salesforce reviewed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166525" y="3575949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30533" y="3479937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Discovery progressed from Enterprise Architecture into detailed functional module walkthroughs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001933" y="4146804"/>
            <a:ext cx="3749040" cy="2487168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001933" y="4146804"/>
            <a:ext cx="3749040" cy="38404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093373" y="41833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04</a:t>
            </a:r>
          </a:p>
        </p:txBody>
      </p:sp>
      <p:sp>
        <p:nvSpPr>
          <p:cNvPr id="50" name="Text 48"/>
          <p:cNvSpPr/>
          <p:nvPr/>
        </p:nvSpPr>
        <p:spPr>
          <a:xfrm>
            <a:off x="7459133" y="42108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Mobile Application Review</a:t>
            </a:r>
            <a:endParaRPr lang="en-US" sz="9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111661" y="46222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Attendees</a:t>
            </a:r>
          </a:p>
        </p:txBody>
      </p:sp>
      <p:sp>
        <p:nvSpPr>
          <p:cNvPr id="54" name="Text 52"/>
          <p:cNvSpPr/>
          <p:nvPr/>
        </p:nvSpPr>
        <p:spPr>
          <a:xfrm>
            <a:off x="7111661" y="47960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WGS · TenTwenty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111661" y="5079492"/>
            <a:ext cx="3520440" cy="18288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111661" y="513435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Key Outcomes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160608" y="5372100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212245" y="5244084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Mobile wireframes and AI Agent concepts presented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160608" y="5701284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212245" y="5573268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UX and branding approach discussed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160608" y="6030468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212245" y="5902452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WGS to review application screens and provide consolidated feedback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160608" y="6359652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212245" y="6231636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Unified branding across AI Agents to be confirmed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65760" y="395020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dirty="0" err="1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TenTwenty</a:t>
            </a:r>
            <a:r>
              <a:rPr lang="en-US" sz="1200" dirty="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 : Program Portal . Community Portal . Mobile App</a:t>
            </a:r>
          </a:p>
        </p:txBody>
      </p:sp>
      <p:sp>
        <p:nvSpPr>
          <p:cNvPr id="66" name="Shape 64"/>
          <p:cNvSpPr/>
          <p:nvPr/>
        </p:nvSpPr>
        <p:spPr>
          <a:xfrm>
            <a:off x="1262604" y="4155948"/>
            <a:ext cx="3749040" cy="246888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262604" y="4155948"/>
            <a:ext cx="3749040" cy="384048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354044" y="41925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03</a:t>
            </a:r>
          </a:p>
        </p:txBody>
      </p:sp>
      <p:sp>
        <p:nvSpPr>
          <p:cNvPr id="70" name="Text 68"/>
          <p:cNvSpPr/>
          <p:nvPr/>
        </p:nvSpPr>
        <p:spPr>
          <a:xfrm>
            <a:off x="1719804" y="42199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Program Portal Workflow Workshops</a:t>
            </a:r>
            <a:endParaRPr lang="en-US" sz="850" dirty="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372332" y="4631436"/>
            <a:ext cx="3529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Parties</a:t>
            </a:r>
          </a:p>
        </p:txBody>
      </p:sp>
      <p:sp>
        <p:nvSpPr>
          <p:cNvPr id="74" name="Text 72"/>
          <p:cNvSpPr/>
          <p:nvPr/>
        </p:nvSpPr>
        <p:spPr>
          <a:xfrm>
            <a:off x="1372332" y="4805172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4748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WGS · TenTwenty</a:t>
            </a:r>
            <a:endParaRPr lang="en-US" sz="7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372332" y="5125212"/>
            <a:ext cx="3529584" cy="18288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372332" y="5180076"/>
            <a:ext cx="3529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Key Outcomes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490037" y="533095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Program, Session and Participant workflows reviewed in detail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477136" y="5548648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Approval gates and operational processes documented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477136" y="5795536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Workflow optimisation discussions completed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477136" y="6042424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Figma workflow diagrams initiated for the new approval journey</a:t>
            </a: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477136" y="628931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1" name="Shape 55">
            <a:extLst>
              <a:ext uri="{FF2B5EF4-FFF2-40B4-BE49-F238E27FC236}">
                <a16:creationId xmlns:a16="http://schemas.microsoft.com/office/drawing/2014/main" id="{FE3275E3-EBB1-42EB-BB52-FAB5739A728D}"/>
              </a:ext>
            </a:extLst>
          </p:cNvPr>
          <p:cNvSpPr/>
          <p:nvPr/>
        </p:nvSpPr>
        <p:spPr>
          <a:xfrm>
            <a:off x="1427288" y="5400626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3" name="Shape 59">
            <a:extLst>
              <a:ext uri="{FF2B5EF4-FFF2-40B4-BE49-F238E27FC236}">
                <a16:creationId xmlns:a16="http://schemas.microsoft.com/office/drawing/2014/main" id="{B6AB7A1C-02D3-B3FB-E67D-FD16561E95EE}"/>
              </a:ext>
            </a:extLst>
          </p:cNvPr>
          <p:cNvSpPr/>
          <p:nvPr/>
        </p:nvSpPr>
        <p:spPr>
          <a:xfrm>
            <a:off x="1427288" y="5871500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4" name="Shape 61">
            <a:extLst>
              <a:ext uri="{FF2B5EF4-FFF2-40B4-BE49-F238E27FC236}">
                <a16:creationId xmlns:a16="http://schemas.microsoft.com/office/drawing/2014/main" id="{74631BE6-97E6-9D08-68FE-08C73479E2EB}"/>
              </a:ext>
            </a:extLst>
          </p:cNvPr>
          <p:cNvSpPr/>
          <p:nvPr/>
        </p:nvSpPr>
        <p:spPr>
          <a:xfrm>
            <a:off x="1427288" y="6347694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6" name="Shape 59">
            <a:extLst>
              <a:ext uri="{FF2B5EF4-FFF2-40B4-BE49-F238E27FC236}">
                <a16:creationId xmlns:a16="http://schemas.microsoft.com/office/drawing/2014/main" id="{243239E8-2324-F6ED-A45D-12B4D0AA86FD}"/>
              </a:ext>
            </a:extLst>
          </p:cNvPr>
          <p:cNvSpPr/>
          <p:nvPr/>
        </p:nvSpPr>
        <p:spPr>
          <a:xfrm>
            <a:off x="1427288" y="5621817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7" name="Shape 59">
            <a:extLst>
              <a:ext uri="{FF2B5EF4-FFF2-40B4-BE49-F238E27FC236}">
                <a16:creationId xmlns:a16="http://schemas.microsoft.com/office/drawing/2014/main" id="{F8ACCEB3-A239-94B4-6B32-B7DD7B906885}"/>
              </a:ext>
            </a:extLst>
          </p:cNvPr>
          <p:cNvSpPr/>
          <p:nvPr/>
        </p:nvSpPr>
        <p:spPr>
          <a:xfrm>
            <a:off x="1427288" y="6118388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58" name="Shape 34">
            <a:extLst>
              <a:ext uri="{FF2B5EF4-FFF2-40B4-BE49-F238E27FC236}">
                <a16:creationId xmlns:a16="http://schemas.microsoft.com/office/drawing/2014/main" id="{E554D94B-E07F-E831-47BB-4693C2960CFE}"/>
              </a:ext>
            </a:extLst>
          </p:cNvPr>
          <p:cNvSpPr/>
          <p:nvPr/>
        </p:nvSpPr>
        <p:spPr>
          <a:xfrm>
            <a:off x="1397548" y="2287647"/>
            <a:ext cx="3520440" cy="18288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86069C0B-F853-7C99-A067-CAFF17667698}"/>
              </a:ext>
            </a:extLst>
          </p:cNvPr>
          <p:cNvSpPr/>
          <p:nvPr/>
        </p:nvSpPr>
        <p:spPr>
          <a:xfrm>
            <a:off x="3854090" y="4222403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Logical"/>
                <a:ea typeface="Calibri" pitchFamily="34" charset="-122"/>
                <a:cs typeface="Calibri" pitchFamily="34" charset="-120"/>
              </a:rPr>
              <a:t>✔ Complete</a:t>
            </a:r>
            <a:endParaRPr lang="en-US" sz="800">
              <a:solidFill>
                <a:srgbClr val="FFFFFF"/>
              </a:solidFill>
              <a:latin typeface="Logical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41872282-4971-5006-C5B0-B3BD6E6A79AE}"/>
              </a:ext>
            </a:extLst>
          </p:cNvPr>
          <p:cNvSpPr/>
          <p:nvPr/>
        </p:nvSpPr>
        <p:spPr>
          <a:xfrm>
            <a:off x="3737347" y="1444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Logical"/>
                <a:ea typeface="Calibri" pitchFamily="34" charset="-122"/>
                <a:cs typeface="Calibri" pitchFamily="34" charset="-120"/>
              </a:rPr>
              <a:t>✔ Complete</a:t>
            </a:r>
            <a:endParaRPr lang="en-US" sz="800">
              <a:solidFill>
                <a:srgbClr val="FFFFFF"/>
              </a:solidFill>
              <a:latin typeface="Logical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147337F2-D719-92DB-5313-716CF94774CF}"/>
              </a:ext>
            </a:extLst>
          </p:cNvPr>
          <p:cNvSpPr/>
          <p:nvPr/>
        </p:nvSpPr>
        <p:spPr>
          <a:xfrm>
            <a:off x="9482231" y="14384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Logical"/>
                <a:ea typeface="Calibri" pitchFamily="34" charset="-122"/>
                <a:cs typeface="Calibri" pitchFamily="34" charset="-120"/>
              </a:rPr>
              <a:t>✔ Complete</a:t>
            </a:r>
            <a:endParaRPr lang="en-US" sz="800" dirty="0">
              <a:solidFill>
                <a:srgbClr val="FFFFFF"/>
              </a:solidFill>
              <a:latin typeface="Logical"/>
            </a:endParaRP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D0362782-5FE3-C274-1648-3E25FBF54A50}"/>
              </a:ext>
            </a:extLst>
          </p:cNvPr>
          <p:cNvSpPr/>
          <p:nvPr/>
        </p:nvSpPr>
        <p:spPr>
          <a:xfrm>
            <a:off x="9596423" y="4211369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Logical"/>
                <a:ea typeface="Calibri" pitchFamily="34" charset="-122"/>
                <a:cs typeface="Calibri" pitchFamily="34" charset="-120"/>
              </a:rPr>
              <a:t>✔ Complete</a:t>
            </a:r>
            <a:endParaRPr lang="en-US" sz="800">
              <a:solidFill>
                <a:srgbClr val="FFFFFF"/>
              </a:solidFill>
              <a:latin typeface="Logic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">
            <a:extLst>
              <a:ext uri="{FF2B5EF4-FFF2-40B4-BE49-F238E27FC236}">
                <a16:creationId xmlns:a16="http://schemas.microsoft.com/office/drawing/2014/main" id="{578C0842-EAD1-9BB7-3639-AF3F3131A359}"/>
              </a:ext>
            </a:extLst>
          </p:cNvPr>
          <p:cNvSpPr/>
          <p:nvPr/>
        </p:nvSpPr>
        <p:spPr>
          <a:xfrm>
            <a:off x="8316227" y="1581912"/>
            <a:ext cx="1874520" cy="54864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57AB8244-7C2A-F97D-B6F5-8614F09B71A6}"/>
              </a:ext>
            </a:extLst>
          </p:cNvPr>
          <p:cNvSpPr/>
          <p:nvPr/>
        </p:nvSpPr>
        <p:spPr>
          <a:xfrm>
            <a:off x="6012581" y="1591056"/>
            <a:ext cx="1874520" cy="54864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63040" y="1586484"/>
            <a:ext cx="1874520" cy="54864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">
            <a:extLst>
              <a:ext uri="{FF2B5EF4-FFF2-40B4-BE49-F238E27FC236}">
                <a16:creationId xmlns:a16="http://schemas.microsoft.com/office/drawing/2014/main" id="{06BC5438-8400-0FD4-A485-82BC814A0062}"/>
              </a:ext>
            </a:extLst>
          </p:cNvPr>
          <p:cNvSpPr/>
          <p:nvPr/>
        </p:nvSpPr>
        <p:spPr>
          <a:xfrm>
            <a:off x="3749040" y="1600200"/>
            <a:ext cx="1874520" cy="54864"/>
          </a:xfrm>
          <a:prstGeom prst="rect">
            <a:avLst/>
          </a:prstGeom>
          <a:solidFill>
            <a:srgbClr val="D0EAF5"/>
          </a:solidFill>
          <a:ln w="1270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Focus — Program Portal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Governance established  ·  Salesforce discovery progressing into functional module walkthroughs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11457432" cy="22860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Delivery Timeline</a:t>
            </a:r>
          </a:p>
        </p:txBody>
      </p:sp>
      <p:sp>
        <p:nvSpPr>
          <p:cNvPr id="8" name="Shape 6"/>
          <p:cNvSpPr/>
          <p:nvPr/>
        </p:nvSpPr>
        <p:spPr>
          <a:xfrm>
            <a:off x="1051560" y="1417320"/>
            <a:ext cx="411480" cy="411480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1</a:t>
            </a:r>
            <a:endParaRPr lang="en-US" sz="16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19" y="1883664"/>
            <a:ext cx="124165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Requirements</a:t>
            </a:r>
          </a:p>
          <a:p>
            <a:pPr indent="0" algn="ctr">
              <a:buNone/>
            </a:pPr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Gathering</a:t>
            </a:r>
          </a:p>
        </p:txBody>
      </p:sp>
      <p:sp>
        <p:nvSpPr>
          <p:cNvPr id="12" name="Text 10"/>
          <p:cNvSpPr/>
          <p:nvPr/>
        </p:nvSpPr>
        <p:spPr>
          <a:xfrm>
            <a:off x="731519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Complete</a:t>
            </a:r>
            <a:endParaRPr lang="en-US" sz="1100" b="1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411480" cy="411480"/>
          </a:xfrm>
          <a:prstGeom prst="ellipse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2</a:t>
            </a:r>
          </a:p>
        </p:txBody>
      </p:sp>
      <p:sp>
        <p:nvSpPr>
          <p:cNvPr id="16" name="Text 14"/>
          <p:cNvSpPr/>
          <p:nvPr/>
        </p:nvSpPr>
        <p:spPr>
          <a:xfrm>
            <a:off x="3017520" y="18836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Architecture</a:t>
            </a:r>
          </a:p>
          <a:p>
            <a:pPr algn="ctr"/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&amp; Design</a:t>
            </a:r>
          </a:p>
        </p:txBody>
      </p:sp>
      <p:sp>
        <p:nvSpPr>
          <p:cNvPr id="17" name="Text 15"/>
          <p:cNvSpPr/>
          <p:nvPr/>
        </p:nvSpPr>
        <p:spPr>
          <a:xfrm>
            <a:off x="3017520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 Progress</a:t>
            </a:r>
          </a:p>
        </p:txBody>
      </p:sp>
      <p:sp>
        <p:nvSpPr>
          <p:cNvPr id="18" name="Shape 16"/>
          <p:cNvSpPr/>
          <p:nvPr/>
        </p:nvSpPr>
        <p:spPr>
          <a:xfrm>
            <a:off x="5623560" y="1417320"/>
            <a:ext cx="411480" cy="411480"/>
          </a:xfrm>
          <a:prstGeom prst="ellipse">
            <a:avLst/>
          </a:prstGeom>
          <a:solidFill>
            <a:srgbClr val="05A7D4"/>
          </a:solidFill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23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3</a:t>
            </a:r>
          </a:p>
        </p:txBody>
      </p:sp>
      <p:sp>
        <p:nvSpPr>
          <p:cNvPr id="21" name="Text 19"/>
          <p:cNvSpPr/>
          <p:nvPr/>
        </p:nvSpPr>
        <p:spPr>
          <a:xfrm>
            <a:off x="5303520" y="18836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Development</a:t>
            </a:r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 Progress</a:t>
            </a:r>
          </a:p>
        </p:txBody>
      </p:sp>
      <p:sp>
        <p:nvSpPr>
          <p:cNvPr id="23" name="Shape 21"/>
          <p:cNvSpPr/>
          <p:nvPr/>
        </p:nvSpPr>
        <p:spPr>
          <a:xfrm>
            <a:off x="7909560" y="1417320"/>
            <a:ext cx="411480" cy="411480"/>
          </a:xfrm>
          <a:prstGeom prst="ellipse">
            <a:avLst/>
          </a:prstGeom>
          <a:solidFill>
            <a:srgbClr val="058DB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9560" y="1417320"/>
            <a:ext cx="411480" cy="4114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4</a:t>
            </a:r>
          </a:p>
        </p:txBody>
      </p:sp>
      <p:sp>
        <p:nvSpPr>
          <p:cNvPr id="26" name="Text 24"/>
          <p:cNvSpPr/>
          <p:nvPr/>
        </p:nvSpPr>
        <p:spPr>
          <a:xfrm>
            <a:off x="7589520" y="18836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Data Migration</a:t>
            </a:r>
          </a:p>
          <a:p>
            <a:pPr algn="ctr"/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&amp; Sanity</a:t>
            </a:r>
          </a:p>
        </p:txBody>
      </p:sp>
      <p:sp>
        <p:nvSpPr>
          <p:cNvPr id="27" name="Text 25"/>
          <p:cNvSpPr/>
          <p:nvPr/>
        </p:nvSpPr>
        <p:spPr>
          <a:xfrm>
            <a:off x="7589520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Not Started</a:t>
            </a:r>
          </a:p>
        </p:txBody>
      </p:sp>
      <p:sp>
        <p:nvSpPr>
          <p:cNvPr id="28" name="Shape 26"/>
          <p:cNvSpPr/>
          <p:nvPr/>
        </p:nvSpPr>
        <p:spPr>
          <a:xfrm>
            <a:off x="10195560" y="1417320"/>
            <a:ext cx="411480" cy="411480"/>
          </a:xfrm>
          <a:prstGeom prst="ellipse">
            <a:avLst/>
          </a:prstGeom>
          <a:solidFill>
            <a:srgbClr val="058DB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95560" y="1417320"/>
            <a:ext cx="411480" cy="4114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5</a:t>
            </a:r>
          </a:p>
        </p:txBody>
      </p:sp>
      <p:sp>
        <p:nvSpPr>
          <p:cNvPr id="30" name="Text 28"/>
          <p:cNvSpPr/>
          <p:nvPr/>
        </p:nvSpPr>
        <p:spPr>
          <a:xfrm>
            <a:off x="9875520" y="18836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UAT &amp;</a:t>
            </a:r>
          </a:p>
          <a:p>
            <a:pPr algn="ctr"/>
            <a:r>
              <a:rPr lang="en-US" sz="11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Go-Live</a:t>
            </a:r>
          </a:p>
        </p:txBody>
      </p:sp>
      <p:sp>
        <p:nvSpPr>
          <p:cNvPr id="31" name="Text 29"/>
          <p:cNvSpPr/>
          <p:nvPr/>
        </p:nvSpPr>
        <p:spPr>
          <a:xfrm>
            <a:off x="9875520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Not Started</a:t>
            </a:r>
          </a:p>
        </p:txBody>
      </p:sp>
      <p:sp>
        <p:nvSpPr>
          <p:cNvPr id="33" name="Text 31"/>
          <p:cNvSpPr/>
          <p:nvPr/>
        </p:nvSpPr>
        <p:spPr>
          <a:xfrm>
            <a:off x="478536" y="2909395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Current Status</a:t>
            </a:r>
          </a:p>
        </p:txBody>
      </p:sp>
      <p:sp>
        <p:nvSpPr>
          <p:cNvPr id="34" name="Shape 32"/>
          <p:cNvSpPr/>
          <p:nvPr/>
        </p:nvSpPr>
        <p:spPr>
          <a:xfrm>
            <a:off x="530352" y="3404774"/>
            <a:ext cx="201168" cy="201168"/>
          </a:xfrm>
          <a:prstGeom prst="ellipse">
            <a:avLst/>
          </a:prstGeom>
          <a:solidFill>
            <a:srgbClr val="92D050"/>
          </a:solidFill>
          <a:ln w="12700">
            <a:noFill/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34"/>
          <p:cNvSpPr/>
          <p:nvPr/>
        </p:nvSpPr>
        <p:spPr>
          <a:xfrm>
            <a:off x="804672" y="336819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 project commenced with governance framework, Agile methodology, sprint framework and Jira governance established</a:t>
            </a:r>
          </a:p>
        </p:txBody>
      </p:sp>
      <p:sp>
        <p:nvSpPr>
          <p:cNvPr id="37" name="Shape 35"/>
          <p:cNvSpPr/>
          <p:nvPr/>
        </p:nvSpPr>
        <p:spPr>
          <a:xfrm>
            <a:off x="530352" y="3898550"/>
            <a:ext cx="201168" cy="201168"/>
          </a:xfrm>
          <a:prstGeom prst="ellipse">
            <a:avLst/>
          </a:prstGeom>
          <a:solidFill>
            <a:srgbClr val="92D050"/>
          </a:solidFill>
          <a:ln w="12700">
            <a:noFill/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9" name="Text 37"/>
          <p:cNvSpPr/>
          <p:nvPr/>
        </p:nvSpPr>
        <p:spPr>
          <a:xfrm>
            <a:off x="804672" y="3861974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Discovery progressed from Enterprise Architecture into functional module walkthroughs, with Membership user journeys successfully documented</a:t>
            </a:r>
          </a:p>
        </p:txBody>
      </p:sp>
      <p:sp>
        <p:nvSpPr>
          <p:cNvPr id="40" name="Shape 38"/>
          <p:cNvSpPr/>
          <p:nvPr/>
        </p:nvSpPr>
        <p:spPr>
          <a:xfrm>
            <a:off x="530352" y="4392326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Text 40"/>
          <p:cNvSpPr/>
          <p:nvPr/>
        </p:nvSpPr>
        <p:spPr>
          <a:xfrm>
            <a:off x="804672" y="4355750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Program Portal approval workflows progressed significantly through multiple working sessions with TenTwenty</a:t>
            </a:r>
          </a:p>
        </p:txBody>
      </p:sp>
      <p:sp>
        <p:nvSpPr>
          <p:cNvPr id="43" name="Shape 41"/>
          <p:cNvSpPr/>
          <p:nvPr/>
        </p:nvSpPr>
        <p:spPr>
          <a:xfrm>
            <a:off x="530352" y="4886102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5" name="Text 43"/>
          <p:cNvSpPr/>
          <p:nvPr/>
        </p:nvSpPr>
        <p:spPr>
          <a:xfrm>
            <a:off x="804672" y="4849526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End-to-end Program, Session and Participant operational journeys being documented and redesigned for greater automation</a:t>
            </a:r>
          </a:p>
        </p:txBody>
      </p:sp>
      <p:sp>
        <p:nvSpPr>
          <p:cNvPr id="46" name="Shape 44"/>
          <p:cNvSpPr/>
          <p:nvPr/>
        </p:nvSpPr>
        <p:spPr>
          <a:xfrm>
            <a:off x="530352" y="5379878"/>
            <a:ext cx="201168" cy="201168"/>
          </a:xfrm>
          <a:prstGeom prst="ellipse">
            <a:avLst/>
          </a:prstGeom>
          <a:solidFill>
            <a:srgbClr val="058DBF">
              <a:alpha val="6000"/>
            </a:srgbClr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8" name="Text 46"/>
          <p:cNvSpPr/>
          <p:nvPr/>
        </p:nvSpPr>
        <p:spPr>
          <a:xfrm>
            <a:off x="804672" y="5343302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Mobile application wireframes and AI Agent concepts presented, with WGS feedback now pending before design finalisation</a:t>
            </a:r>
          </a:p>
        </p:txBody>
      </p:sp>
      <p:sp>
        <p:nvSpPr>
          <p:cNvPr id="49" name="Shape 47"/>
          <p:cNvSpPr/>
          <p:nvPr/>
        </p:nvSpPr>
        <p:spPr>
          <a:xfrm>
            <a:off x="530352" y="5873654"/>
            <a:ext cx="201168" cy="201168"/>
          </a:xfrm>
          <a:prstGeom prst="ellipse">
            <a:avLst/>
          </a:prstGeom>
          <a:solidFill>
            <a:srgbClr val="058DBF">
              <a:alpha val="6000"/>
            </a:srgbClr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1" name="Text 49"/>
          <p:cNvSpPr/>
          <p:nvPr/>
        </p:nvSpPr>
        <p:spPr>
          <a:xfrm>
            <a:off x="804672" y="5837078"/>
            <a:ext cx="5477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/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 now has a comprehensive understanding of both the technical architecture and the core business processes</a:t>
            </a:r>
          </a:p>
        </p:txBody>
      </p:sp>
      <p:sp>
        <p:nvSpPr>
          <p:cNvPr id="52" name="Shape 50"/>
          <p:cNvSpPr/>
          <p:nvPr/>
        </p:nvSpPr>
        <p:spPr>
          <a:xfrm>
            <a:off x="6355080" y="2633472"/>
            <a:ext cx="5468112" cy="1828800"/>
          </a:xfrm>
          <a:prstGeom prst="roundRect">
            <a:avLst>
              <a:gd name="adj" fmla="val 5000"/>
            </a:avLst>
          </a:prstGeom>
          <a:solidFill>
            <a:srgbClr val="E5FBFF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28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92240" y="27249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Open Decisions</a:t>
            </a:r>
            <a:endParaRPr lang="en-US" sz="105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638544" y="29992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Final approval workflow diagrams pending completion by TenTwenty</a:t>
            </a:r>
            <a:endParaRPr lang="en-US" sz="1100" dirty="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638544" y="341985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MuleSoft deployment model (Cloud vs On-Prem) and Community Portal integration approach to be confirmed</a:t>
            </a:r>
            <a:endParaRPr lang="en-US" sz="1100" dirty="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38544" y="3840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Mobile application branding alignment to be confirmed across all AI Agents; final UI consistency with Jeeraj’s website design to be agreed</a:t>
            </a:r>
            <a:endParaRPr lang="en-US" sz="11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355080" y="4617720"/>
            <a:ext cx="5468112" cy="1965960"/>
          </a:xfrm>
          <a:prstGeom prst="roundRect">
            <a:avLst>
              <a:gd name="adj" fmla="val 4651"/>
            </a:avLst>
          </a:prstGeom>
          <a:solidFill>
            <a:srgbClr val="B5EAFD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28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492240" y="470916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Immediate Next Steps</a:t>
            </a:r>
            <a:endParaRPr lang="en-US" sz="105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638544" y="499262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Receive final workflow diagrams from TenTwenty and formally approve workflow documentation</a:t>
            </a:r>
            <a:endParaRPr lang="en-US" sz="11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638544" y="537667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Submit consolidated mobile application feedback</a:t>
            </a:r>
            <a:endParaRPr lang="en-US" sz="1100" dirty="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638544" y="576072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Continue remaining functional discovery and module walkthroughs; complete 1020 partner onboarding</a:t>
            </a:r>
            <a:endParaRPr lang="en-US" sz="11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638544" y="614476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Finalise MuleSoft deployment approach and begin detailed solution design</a:t>
            </a:r>
            <a:endParaRPr lang="en-US" sz="11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D5E5FD7-7C56-5F32-F699-2D546E610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350"/>
            <a:ext cx="12192000" cy="657002"/>
          </a:xfrm>
          <a:prstGeom prst="rect">
            <a:avLst/>
          </a:prstGeom>
        </p:spPr>
      </p:pic>
      <p:sp>
        <p:nvSpPr>
          <p:cNvPr id="83" name="Text 2">
            <a:extLst>
              <a:ext uri="{FF2B5EF4-FFF2-40B4-BE49-F238E27FC236}">
                <a16:creationId xmlns:a16="http://schemas.microsoft.com/office/drawing/2014/main" id="{A0628AD1-16E0-3CFF-D027-2E232815F15D}"/>
              </a:ext>
            </a:extLst>
          </p:cNvPr>
          <p:cNvSpPr/>
          <p:nvPr/>
        </p:nvSpPr>
        <p:spPr>
          <a:xfrm>
            <a:off x="182016" y="2711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r>
              <a:rPr lang="en-US" sz="2400" b="1" dirty="0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Workstream Focus — Program Portal</a:t>
            </a:r>
          </a:p>
        </p:txBody>
      </p:sp>
      <p:sp>
        <p:nvSpPr>
          <p:cNvPr id="87" name="Shape 36">
            <a:extLst>
              <a:ext uri="{FF2B5EF4-FFF2-40B4-BE49-F238E27FC236}">
                <a16:creationId xmlns:a16="http://schemas.microsoft.com/office/drawing/2014/main" id="{A53BA82A-D078-219D-9155-35B468A5CB78}"/>
              </a:ext>
            </a:extLst>
          </p:cNvPr>
          <p:cNvSpPr/>
          <p:nvPr/>
        </p:nvSpPr>
        <p:spPr>
          <a:xfrm>
            <a:off x="6574536" y="3136392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8" name="Shape 38">
            <a:extLst>
              <a:ext uri="{FF2B5EF4-FFF2-40B4-BE49-F238E27FC236}">
                <a16:creationId xmlns:a16="http://schemas.microsoft.com/office/drawing/2014/main" id="{AFBB01EB-C300-47A3-C173-8714C88F7D0F}"/>
              </a:ext>
            </a:extLst>
          </p:cNvPr>
          <p:cNvSpPr/>
          <p:nvPr/>
        </p:nvSpPr>
        <p:spPr>
          <a:xfrm>
            <a:off x="6574536" y="3494154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9" name="Shape 40">
            <a:extLst>
              <a:ext uri="{FF2B5EF4-FFF2-40B4-BE49-F238E27FC236}">
                <a16:creationId xmlns:a16="http://schemas.microsoft.com/office/drawing/2014/main" id="{1D1F1989-7B4A-2B45-2400-DC746A7D2F75}"/>
              </a:ext>
            </a:extLst>
          </p:cNvPr>
          <p:cNvSpPr/>
          <p:nvPr/>
        </p:nvSpPr>
        <p:spPr>
          <a:xfrm>
            <a:off x="6574536" y="3999134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1" name="Shape 36">
            <a:extLst>
              <a:ext uri="{FF2B5EF4-FFF2-40B4-BE49-F238E27FC236}">
                <a16:creationId xmlns:a16="http://schemas.microsoft.com/office/drawing/2014/main" id="{F9F2B5F4-1D9F-91C3-03DA-1003DEFD6D20}"/>
              </a:ext>
            </a:extLst>
          </p:cNvPr>
          <p:cNvSpPr/>
          <p:nvPr/>
        </p:nvSpPr>
        <p:spPr>
          <a:xfrm>
            <a:off x="6542532" y="5116068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2" name="Shape 38">
            <a:extLst>
              <a:ext uri="{FF2B5EF4-FFF2-40B4-BE49-F238E27FC236}">
                <a16:creationId xmlns:a16="http://schemas.microsoft.com/office/drawing/2014/main" id="{202FA0CC-57FF-4BBE-F1CD-FA1DE10E4714}"/>
              </a:ext>
            </a:extLst>
          </p:cNvPr>
          <p:cNvSpPr/>
          <p:nvPr/>
        </p:nvSpPr>
        <p:spPr>
          <a:xfrm>
            <a:off x="6542532" y="5498592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3" name="Shape 40">
            <a:extLst>
              <a:ext uri="{FF2B5EF4-FFF2-40B4-BE49-F238E27FC236}">
                <a16:creationId xmlns:a16="http://schemas.microsoft.com/office/drawing/2014/main" id="{93FCBD14-9769-09DC-183E-EC44F1E8EEDE}"/>
              </a:ext>
            </a:extLst>
          </p:cNvPr>
          <p:cNvSpPr/>
          <p:nvPr/>
        </p:nvSpPr>
        <p:spPr>
          <a:xfrm>
            <a:off x="6542532" y="5896356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4" name="Shape 42">
            <a:extLst>
              <a:ext uri="{FF2B5EF4-FFF2-40B4-BE49-F238E27FC236}">
                <a16:creationId xmlns:a16="http://schemas.microsoft.com/office/drawing/2014/main" id="{7D09FB8F-83C5-7970-EE27-EC429B9783F3}"/>
              </a:ext>
            </a:extLst>
          </p:cNvPr>
          <p:cNvSpPr/>
          <p:nvPr/>
        </p:nvSpPr>
        <p:spPr>
          <a:xfrm>
            <a:off x="6542532" y="6278880"/>
            <a:ext cx="64008" cy="6400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">
            <a:extLst>
              <a:ext uri="{FF2B5EF4-FFF2-40B4-BE49-F238E27FC236}">
                <a16:creationId xmlns:a16="http://schemas.microsoft.com/office/drawing/2014/main" id="{C6A64B26-2439-09CA-34E5-06DBEE88080C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BB92DC0-0C7C-E2F6-DA24-1276F6CEF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350"/>
            <a:ext cx="12192000" cy="657002"/>
          </a:xfrm>
          <a:prstGeom prst="rect">
            <a:avLst/>
          </a:prstGeom>
        </p:spPr>
      </p:pic>
      <p:sp>
        <p:nvSpPr>
          <p:cNvPr id="38" name="Text 2">
            <a:extLst>
              <a:ext uri="{FF2B5EF4-FFF2-40B4-BE49-F238E27FC236}">
                <a16:creationId xmlns:a16="http://schemas.microsoft.com/office/drawing/2014/main" id="{A3606C57-8E19-4ED6-22A7-59C912C49BA3}"/>
              </a:ext>
            </a:extLst>
          </p:cNvPr>
          <p:cNvSpPr/>
          <p:nvPr/>
        </p:nvSpPr>
        <p:spPr>
          <a:xfrm>
            <a:off x="182016" y="2711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r>
              <a:rPr lang="en-US" sz="2400" b="1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Salesforce — Current Status Update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31 July 2026  ·  Discovery &amp; Solution Design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11457432" cy="22860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" y="15544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58DBF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1118" y="1562023"/>
            <a:ext cx="512064" cy="517652"/>
          </a:xfrm>
          <a:prstGeom prst="rect">
            <a:avLst/>
          </a:prstGeom>
          <a:noFill/>
          <a:ln>
            <a:solidFill>
              <a:srgbClr val="058DB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Segoe UI Emoji" pitchFamily="34" charset="-120"/>
              </a:rPr>
              <a:t>⇄</a:t>
            </a:r>
            <a:endParaRPr lang="en-US" sz="24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3856" y="157909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Current Status</a:t>
            </a:r>
            <a:endParaRPr lang="en-US" sz="16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33856" y="1801368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Discovery phase progressing well following kickoff. Governance framework, Ways of Working and sprint methodology defined, with delivery model and workshop schedule agreed.</a:t>
            </a:r>
            <a:endParaRPr lang="en-US" sz="1100" dirty="0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89320" y="141732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9048" y="15544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58DBF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9048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Segoe UI Emoji" pitchFamily="34" charset="-120"/>
              </a:rPr>
              <a:t>📄</a:t>
            </a:r>
            <a:endParaRPr lang="en-US" sz="24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57416" y="157128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Integration Platform</a:t>
            </a:r>
            <a:endParaRPr lang="en-US" sz="16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57416" y="1801368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Salesforce confirmed as central System of Record. MuleSoft integration planning underway; deployment model (Cloud vs On-Prem) remains an open architectural decision.</a:t>
            </a:r>
            <a:endParaRPr lang="en-US" sz="1100" dirty="0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71576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" y="285292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58DBF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5112" y="2876675"/>
            <a:ext cx="493776" cy="493776"/>
          </a:xfrm>
          <a:prstGeom prst="rect">
            <a:avLst/>
          </a:prstGeom>
          <a:solidFill>
            <a:srgbClr val="058DBF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400" dirty="0">
              <a:solidFill>
                <a:srgbClr val="FFFFF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3856" y="287754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Governance</a:t>
            </a:r>
            <a:endParaRPr lang="en-US" sz="16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856" y="309981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Agile methodology and sprint framework agreed. Jira confirmed as single source of truth, RACI clarified, and weekly governance with Friday status reporting established.</a:t>
            </a:r>
            <a:endParaRPr lang="en-US" sz="1100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89320" y="271576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9048" y="285292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58DBF"/>
          </a:solidFill>
          <a:ln w="12700">
            <a:solidFill>
              <a:srgbClr val="058DBF"/>
            </a:solidFill>
            <a:prstDash val="solid"/>
          </a:ln>
        </p:spPr>
        <p:txBody>
          <a:bodyPr/>
          <a:lstStyle/>
          <a:p>
            <a:endParaRPr lang="en-US" sz="28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9048" y="2852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Segoe UI Emoji" pitchFamily="34" charset="-120"/>
              </a:rPr>
              <a:t>📖</a:t>
            </a:r>
            <a:endParaRPr lang="en-US" sz="24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57416" y="2846283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58DB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Project Direction</a:t>
            </a:r>
            <a:endParaRPr lang="en-US" sz="1600">
              <a:solidFill>
                <a:srgbClr val="058DBF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57416" y="309981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Discovery is progressing successfully across technical and functional streams, with Solution Design confirmed as the next phase.</a:t>
            </a:r>
            <a:endParaRPr lang="en-US" sz="1100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352" y="4424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Discovery Progress</a:t>
            </a:r>
          </a:p>
        </p:txBody>
      </p:sp>
      <p:sp>
        <p:nvSpPr>
          <p:cNvPr id="29" name="Text 27"/>
          <p:cNvSpPr/>
          <p:nvPr/>
        </p:nvSpPr>
        <p:spPr>
          <a:xfrm>
            <a:off x="475488" y="443382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Technical discovery (Enterprise Architecture) and functional discovery (Membership module) both completed. User journey discovery progressing successfully across core business processes.</a:t>
            </a:r>
          </a:p>
        </p:txBody>
      </p:sp>
      <p:sp>
        <p:nvSpPr>
          <p:cNvPr id="31" name="Text 29"/>
          <p:cNvSpPr/>
          <p:nvPr/>
        </p:nvSpPr>
        <p:spPr>
          <a:xfrm>
            <a:off x="6492240" y="4424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Next Step</a:t>
            </a:r>
          </a:p>
        </p:txBody>
      </p:sp>
      <p:sp>
        <p:nvSpPr>
          <p:cNvPr id="32" name="Text 30"/>
          <p:cNvSpPr/>
          <p:nvPr/>
        </p:nvSpPr>
        <p:spPr>
          <a:xfrm>
            <a:off x="6492240" y="47264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Continue discovery workshops, complete workflow definition, finalise solution architecture and commence implementation planning.</a:t>
            </a:r>
          </a:p>
        </p:txBody>
      </p:sp>
      <p:sp>
        <p:nvSpPr>
          <p:cNvPr id="34" name="Text 32"/>
          <p:cNvSpPr/>
          <p:nvPr/>
        </p:nvSpPr>
        <p:spPr>
          <a:xfrm>
            <a:off x="365760" y="5825591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5" name="Text 33"/>
          <p:cNvSpPr/>
          <p:nvPr/>
        </p:nvSpPr>
        <p:spPr>
          <a:xfrm>
            <a:off x="3063240" y="6418072"/>
            <a:ext cx="8641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10268843-E6FB-C638-943F-BD05BF9E71C4}"/>
              </a:ext>
            </a:extLst>
          </p:cNvPr>
          <p:cNvSpPr/>
          <p:nvPr/>
        </p:nvSpPr>
        <p:spPr>
          <a:xfrm>
            <a:off x="365760" y="6189192"/>
            <a:ext cx="10917936" cy="404321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en-US" sz="1050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EBB92-6B2C-65C1-4EB1-B5D2DE5C9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6">
            <a:extLst>
              <a:ext uri="{FF2B5EF4-FFF2-40B4-BE49-F238E27FC236}">
                <a16:creationId xmlns:a16="http://schemas.microsoft.com/office/drawing/2014/main" id="{F16D8DF7-EBA4-360F-541A-1A079F93DA8A}"/>
              </a:ext>
            </a:extLst>
          </p:cNvPr>
          <p:cNvSpPr/>
          <p:nvPr/>
        </p:nvSpPr>
        <p:spPr>
          <a:xfrm>
            <a:off x="3280610" y="3982801"/>
            <a:ext cx="8542581" cy="329585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2DF01782-9B2E-681A-35A5-7EA85F4340AB}"/>
              </a:ext>
            </a:extLst>
          </p:cNvPr>
          <p:cNvSpPr/>
          <p:nvPr/>
        </p:nvSpPr>
        <p:spPr>
          <a:xfrm>
            <a:off x="1494162" y="3982801"/>
            <a:ext cx="1786448" cy="329585"/>
          </a:xfrm>
          <a:prstGeom prst="rect">
            <a:avLst/>
          </a:prstGeom>
          <a:solidFill>
            <a:srgbClr val="05A7D4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7" name="Shape 6">
            <a:extLst>
              <a:ext uri="{FF2B5EF4-FFF2-40B4-BE49-F238E27FC236}">
                <a16:creationId xmlns:a16="http://schemas.microsoft.com/office/drawing/2014/main" id="{5F337B85-9E0B-6F71-A9EA-034603CF1F1B}"/>
              </a:ext>
            </a:extLst>
          </p:cNvPr>
          <p:cNvSpPr/>
          <p:nvPr/>
        </p:nvSpPr>
        <p:spPr>
          <a:xfrm>
            <a:off x="381802" y="3982800"/>
            <a:ext cx="1112360" cy="329585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55DBB626-D28D-3978-DDEB-55038A1CD7CC}"/>
              </a:ext>
            </a:extLst>
          </p:cNvPr>
          <p:cNvSpPr/>
          <p:nvPr/>
        </p:nvSpPr>
        <p:spPr>
          <a:xfrm>
            <a:off x="9713495" y="1371600"/>
            <a:ext cx="2109697" cy="371535"/>
          </a:xfrm>
          <a:prstGeom prst="rect">
            <a:avLst/>
          </a:prstGeom>
          <a:solidFill>
            <a:srgbClr val="05A7D4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14E002F7-5C8A-F639-4C92-1318BBEB5A53}"/>
              </a:ext>
            </a:extLst>
          </p:cNvPr>
          <p:cNvSpPr/>
          <p:nvPr/>
        </p:nvSpPr>
        <p:spPr>
          <a:xfrm>
            <a:off x="2865119" y="1371600"/>
            <a:ext cx="6934139" cy="371535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226AEB-F95B-F857-8344-FE45F4505A80}"/>
              </a:ext>
            </a:extLst>
          </p:cNvPr>
          <p:cNvSpPr/>
          <p:nvPr/>
        </p:nvSpPr>
        <p:spPr>
          <a:xfrm>
            <a:off x="229403" y="728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Logical"/>
                <a:ea typeface="Calibri" pitchFamily="34" charset="-122"/>
                <a:cs typeface="Calibri" pitchFamily="34" charset="-120"/>
              </a:rPr>
              <a:t>Key Decisions &amp; Risks</a:t>
            </a:r>
            <a:endParaRPr lang="en-US" sz="2800">
              <a:latin typeface="Logic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8A2529-DE1C-18D3-D8B1-ABAD8B4F22E3}"/>
              </a:ext>
            </a:extLst>
          </p:cNvPr>
          <p:cNvSpPr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Items Requiring Management Attention Or Tracking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EF25E7B-36D2-7B62-8B50-73D1D3582316}"/>
              </a:ext>
            </a:extLst>
          </p:cNvPr>
          <p:cNvSpPr/>
          <p:nvPr/>
        </p:nvSpPr>
        <p:spPr>
          <a:xfrm>
            <a:off x="365760" y="1024128"/>
            <a:ext cx="11457432" cy="22860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CEFAD9-9DF3-2518-129E-39E26FE201A5}"/>
              </a:ext>
            </a:extLst>
          </p:cNvPr>
          <p:cNvSpPr/>
          <p:nvPr/>
        </p:nvSpPr>
        <p:spPr>
          <a:xfrm>
            <a:off x="365760" y="11155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Open Decisions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186D416-A263-8278-FA8D-680224F390D6}"/>
              </a:ext>
            </a:extLst>
          </p:cNvPr>
          <p:cNvSpPr/>
          <p:nvPr/>
        </p:nvSpPr>
        <p:spPr>
          <a:xfrm>
            <a:off x="365760" y="1371600"/>
            <a:ext cx="2499360" cy="356616"/>
          </a:xfrm>
          <a:prstGeom prst="rect">
            <a:avLst/>
          </a:prstGeom>
          <a:solidFill>
            <a:srgbClr val="058DBF"/>
          </a:solidFill>
          <a:ln w="12700">
            <a:solidFill>
              <a:srgbClr val="058DBF"/>
            </a:solidFill>
            <a:prstDash val="solid"/>
          </a:ln>
          <a:effectLst/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C70FC1-F5C6-89D3-B701-FA8757B12D66}"/>
              </a:ext>
            </a:extLst>
          </p:cNvPr>
          <p:cNvSpPr/>
          <p:nvPr/>
        </p:nvSpPr>
        <p:spPr>
          <a:xfrm>
            <a:off x="365760" y="1444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590A988-00C0-F3FC-D6A3-75BA818E4320}"/>
              </a:ext>
            </a:extLst>
          </p:cNvPr>
          <p:cNvSpPr/>
          <p:nvPr/>
        </p:nvSpPr>
        <p:spPr>
          <a:xfrm>
            <a:off x="1051640" y="1426785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Item</a:t>
            </a:r>
            <a:endParaRPr lang="en-US" sz="11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FA0112-DC49-5492-17AC-2AF67BFC7538}"/>
              </a:ext>
            </a:extLst>
          </p:cNvPr>
          <p:cNvSpPr/>
          <p:nvPr/>
        </p:nvSpPr>
        <p:spPr>
          <a:xfrm>
            <a:off x="5940391" y="1423416"/>
            <a:ext cx="2964712" cy="277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Detail</a:t>
            </a:r>
            <a:endParaRPr lang="en-US" sz="12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FD7964-DF0B-EF7A-CEEE-BCC864D68839}"/>
              </a:ext>
            </a:extLst>
          </p:cNvPr>
          <p:cNvSpPr/>
          <p:nvPr/>
        </p:nvSpPr>
        <p:spPr>
          <a:xfrm>
            <a:off x="10515600" y="14447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Status</a:t>
            </a:r>
            <a:endParaRPr lang="en-US" sz="11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1AF80C8-C308-287D-DDFF-9089566610D0}"/>
              </a:ext>
            </a:extLst>
          </p:cNvPr>
          <p:cNvSpPr/>
          <p:nvPr/>
        </p:nvSpPr>
        <p:spPr>
          <a:xfrm>
            <a:off x="365760" y="1737360"/>
            <a:ext cx="114574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74E60E-571C-A82D-633E-CAB3A6801501}"/>
              </a:ext>
            </a:extLst>
          </p:cNvPr>
          <p:cNvSpPr/>
          <p:nvPr/>
        </p:nvSpPr>
        <p:spPr>
          <a:xfrm>
            <a:off x="533400" y="1852863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Workflow Sign-Off</a:t>
            </a:r>
            <a:endParaRPr lang="en-US" sz="14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347467D-3605-ECA9-ED37-D8BE8A09BD5C}"/>
              </a:ext>
            </a:extLst>
          </p:cNvPr>
          <p:cNvSpPr/>
          <p:nvPr/>
        </p:nvSpPr>
        <p:spPr>
          <a:xfrm>
            <a:off x="3108960" y="1810512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Final approval workflows to be reviewed and approved once TenTwenty delivers the completed diagrams.</a:t>
            </a:r>
            <a:endParaRPr lang="en-US" sz="1100" dirty="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0E03ACA-32AB-C243-189A-16BB38D17B90}"/>
              </a:ext>
            </a:extLst>
          </p:cNvPr>
          <p:cNvSpPr/>
          <p:nvPr/>
        </p:nvSpPr>
        <p:spPr>
          <a:xfrm>
            <a:off x="10561320" y="19202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Pending</a:t>
            </a:r>
            <a:endParaRPr lang="en-US" sz="800">
              <a:solidFill>
                <a:srgbClr val="002060"/>
              </a:solidFill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3A6BCD3-DCFE-F3F3-426F-AA08007A503D}"/>
              </a:ext>
            </a:extLst>
          </p:cNvPr>
          <p:cNvSpPr/>
          <p:nvPr/>
        </p:nvSpPr>
        <p:spPr>
          <a:xfrm>
            <a:off x="365760" y="2377440"/>
            <a:ext cx="11457432" cy="603504"/>
          </a:xfrm>
          <a:prstGeom prst="rect">
            <a:avLst/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F08BFE-01BC-1387-4483-F32C40D61CE7}"/>
              </a:ext>
            </a:extLst>
          </p:cNvPr>
          <p:cNvSpPr/>
          <p:nvPr/>
        </p:nvSpPr>
        <p:spPr>
          <a:xfrm>
            <a:off x="533400" y="2478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Integration Architecture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C26D22A-72D1-34AF-06D6-42DB242BBEBF}"/>
              </a:ext>
            </a:extLst>
          </p:cNvPr>
          <p:cNvSpPr/>
          <p:nvPr/>
        </p:nvSpPr>
        <p:spPr>
          <a:xfrm>
            <a:off x="3108960" y="2450592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MuleSoft deployment model (Cloud vs On-Prem) and Community Portal authentication/integration approach to be confirmed.</a:t>
            </a:r>
            <a:endParaRPr lang="en-US" sz="1100" dirty="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8734EA-894D-1492-3CA5-62486EFF218B}"/>
              </a:ext>
            </a:extLst>
          </p:cNvPr>
          <p:cNvSpPr/>
          <p:nvPr/>
        </p:nvSpPr>
        <p:spPr>
          <a:xfrm>
            <a:off x="10561320" y="25603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 Progress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81E87DC-34E7-D6F6-7466-4A5823429E83}"/>
              </a:ext>
            </a:extLst>
          </p:cNvPr>
          <p:cNvSpPr/>
          <p:nvPr/>
        </p:nvSpPr>
        <p:spPr>
          <a:xfrm>
            <a:off x="365760" y="3017520"/>
            <a:ext cx="114574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BDCCE3F-FCAD-4A11-1A34-B06FB706D1BF}"/>
              </a:ext>
            </a:extLst>
          </p:cNvPr>
          <p:cNvSpPr/>
          <p:nvPr/>
        </p:nvSpPr>
        <p:spPr>
          <a:xfrm>
            <a:off x="533400" y="3126446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40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Mobile Branding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023734A-286B-1025-DF3C-64332ED50311}"/>
              </a:ext>
            </a:extLst>
          </p:cNvPr>
          <p:cNvSpPr/>
          <p:nvPr/>
        </p:nvSpPr>
        <p:spPr>
          <a:xfrm>
            <a:off x="3108960" y="3090672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Confirm unified branding approach across AI Agents and mobile experience.</a:t>
            </a:r>
            <a:endParaRPr lang="en-US" sz="11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04364B2-3628-373A-9E09-2F351D4A6CF5}"/>
              </a:ext>
            </a:extLst>
          </p:cNvPr>
          <p:cNvSpPr/>
          <p:nvPr/>
        </p:nvSpPr>
        <p:spPr>
          <a:xfrm>
            <a:off x="10561320" y="32004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002060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 Progress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86F81AE-9361-A8D4-AD4B-D9410A1BBD11}"/>
              </a:ext>
            </a:extLst>
          </p:cNvPr>
          <p:cNvSpPr/>
          <p:nvPr/>
        </p:nvSpPr>
        <p:spPr>
          <a:xfrm>
            <a:off x="341046" y="367407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>
                <a:solidFill>
                  <a:srgbClr val="00B4D3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Programme Risks</a:t>
            </a: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DC2BB5F-D3DD-E128-1386-D9EDAC0202FD}"/>
              </a:ext>
            </a:extLst>
          </p:cNvPr>
          <p:cNvSpPr/>
          <p:nvPr/>
        </p:nvSpPr>
        <p:spPr>
          <a:xfrm>
            <a:off x="365760" y="405178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3D9B949-FC2B-0670-FAEC-4D4383BEFD21}"/>
              </a:ext>
            </a:extLst>
          </p:cNvPr>
          <p:cNvSpPr/>
          <p:nvPr/>
        </p:nvSpPr>
        <p:spPr>
          <a:xfrm>
            <a:off x="631657" y="400274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Level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81E430E-C95F-7888-7DF4-7EB5D13030DB}"/>
              </a:ext>
            </a:extLst>
          </p:cNvPr>
          <p:cNvSpPr/>
          <p:nvPr/>
        </p:nvSpPr>
        <p:spPr>
          <a:xfrm>
            <a:off x="2090652" y="400274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Risk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CA99EAD-F2D8-5DA9-0B22-0A8481A81939}"/>
              </a:ext>
            </a:extLst>
          </p:cNvPr>
          <p:cNvSpPr/>
          <p:nvPr/>
        </p:nvSpPr>
        <p:spPr>
          <a:xfrm>
            <a:off x="6332188" y="400274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FFFFFF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Mitigation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0F2F126-96BD-D878-B3EE-BD27BB04F77E}"/>
              </a:ext>
            </a:extLst>
          </p:cNvPr>
          <p:cNvSpPr/>
          <p:nvPr/>
        </p:nvSpPr>
        <p:spPr>
          <a:xfrm>
            <a:off x="10515600" y="405178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7109EB6-8D4A-695E-D3BE-80BAF4A9B39B}"/>
              </a:ext>
            </a:extLst>
          </p:cNvPr>
          <p:cNvSpPr/>
          <p:nvPr/>
        </p:nvSpPr>
        <p:spPr>
          <a:xfrm>
            <a:off x="365760" y="4335246"/>
            <a:ext cx="114574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B1B4A5A-7D4C-5355-311E-F8E0999EF2B3}"/>
              </a:ext>
            </a:extLst>
          </p:cNvPr>
          <p:cNvSpPr/>
          <p:nvPr/>
        </p:nvSpPr>
        <p:spPr>
          <a:xfrm>
            <a:off x="613451" y="445411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Medium</a:t>
            </a:r>
            <a:endParaRPr lang="en-US" sz="10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B460F69-ACAB-0E9B-3977-DAEE7DA3D198}"/>
              </a:ext>
            </a:extLst>
          </p:cNvPr>
          <p:cNvSpPr/>
          <p:nvPr/>
        </p:nvSpPr>
        <p:spPr>
          <a:xfrm>
            <a:off x="1748587" y="440839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Final workflow approval delayed</a:t>
            </a: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525DEF05-0B35-AD16-C351-BC9670AADF0F}"/>
              </a:ext>
            </a:extLst>
          </p:cNvPr>
          <p:cNvSpPr/>
          <p:nvPr/>
        </p:nvSpPr>
        <p:spPr>
          <a:xfrm>
            <a:off x="4214340" y="439011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Weekly validation sessions continue until sign-off is achieved.</a:t>
            </a: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7518CDC-881F-ED36-E827-DF311CDFD8A2}"/>
              </a:ext>
            </a:extLst>
          </p:cNvPr>
          <p:cNvSpPr/>
          <p:nvPr/>
        </p:nvSpPr>
        <p:spPr>
          <a:xfrm>
            <a:off x="365760" y="4865598"/>
            <a:ext cx="11457432" cy="493776"/>
          </a:xfrm>
          <a:prstGeom prst="rect">
            <a:avLst/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E58473A-C822-801D-3248-E7E1AAE5209C}"/>
              </a:ext>
            </a:extLst>
          </p:cNvPr>
          <p:cNvSpPr/>
          <p:nvPr/>
        </p:nvSpPr>
        <p:spPr>
          <a:xfrm>
            <a:off x="613451" y="498447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Medium</a:t>
            </a:r>
            <a:endParaRPr lang="en-US" sz="10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85611A5-9200-4F7D-53DB-A00C813118EE}"/>
              </a:ext>
            </a:extLst>
          </p:cNvPr>
          <p:cNvSpPr/>
          <p:nvPr/>
        </p:nvSpPr>
        <p:spPr>
          <a:xfrm>
            <a:off x="1748587" y="493875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40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Mobile UX feedback outstanding</a:t>
            </a: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943E83D-0F4F-D3B2-C7CB-B8083CF3BCC0}"/>
              </a:ext>
            </a:extLst>
          </p:cNvPr>
          <p:cNvSpPr/>
          <p:nvPr/>
        </p:nvSpPr>
        <p:spPr>
          <a:xfrm>
            <a:off x="4214340" y="492046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WGS to complete application review and provide consolidated feedback.</a:t>
            </a: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DB69C88-A9B4-9678-1C5B-FE88D91B13C8}"/>
              </a:ext>
            </a:extLst>
          </p:cNvPr>
          <p:cNvSpPr/>
          <p:nvPr/>
        </p:nvSpPr>
        <p:spPr>
          <a:xfrm>
            <a:off x="365760" y="5395950"/>
            <a:ext cx="114574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6F78009-D506-B3FD-5628-53FA43660592}"/>
              </a:ext>
            </a:extLst>
          </p:cNvPr>
          <p:cNvSpPr/>
          <p:nvPr/>
        </p:nvSpPr>
        <p:spPr>
          <a:xfrm>
            <a:off x="613451" y="551482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0B98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Low</a:t>
            </a:r>
            <a:endParaRPr lang="en-US" sz="1000">
              <a:latin typeface="Logical" panose="020B0503030202020204" pitchFamily="34" charset="0"/>
              <a:ea typeface="Logical" panose="020B0503030202020204" pitchFamily="34" charset="0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091800F-F22C-6821-BE8A-904D4BEC6754}"/>
              </a:ext>
            </a:extLst>
          </p:cNvPr>
          <p:cNvSpPr/>
          <p:nvPr/>
        </p:nvSpPr>
        <p:spPr>
          <a:xfrm>
            <a:off x="1748587" y="546910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1E2761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Infrastructure architecture dependent on MuleSoft decision</a:t>
            </a: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75A1454-8B9D-08F3-6509-79195DACCB63}"/>
              </a:ext>
            </a:extLst>
          </p:cNvPr>
          <p:cNvSpPr/>
          <p:nvPr/>
        </p:nvSpPr>
        <p:spPr>
          <a:xfrm>
            <a:off x="4214340" y="5450814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Logical" panose="020B0503030202020204" pitchFamily="34" charset="0"/>
                <a:ea typeface="Logical" panose="020B0503030202020204" pitchFamily="34" charset="0"/>
                <a:cs typeface="Calibri" pitchFamily="34" charset="-120"/>
              </a:rPr>
              <a:t>Finalise MuleSoft deployment model and complete remaining functional walkthroughs before Solution Design.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92CFF8CE-AF0B-C72A-28BB-F3145B746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" y="11714"/>
            <a:ext cx="12192000" cy="657002"/>
          </a:xfrm>
          <a:prstGeom prst="rect">
            <a:avLst/>
          </a:prstGeom>
        </p:spPr>
      </p:pic>
      <p:sp>
        <p:nvSpPr>
          <p:cNvPr id="71" name="Text 2">
            <a:extLst>
              <a:ext uri="{FF2B5EF4-FFF2-40B4-BE49-F238E27FC236}">
                <a16:creationId xmlns:a16="http://schemas.microsoft.com/office/drawing/2014/main" id="{FAED275A-5926-CA18-1368-97519BB8111D}"/>
              </a:ext>
            </a:extLst>
          </p:cNvPr>
          <p:cNvSpPr/>
          <p:nvPr/>
        </p:nvSpPr>
        <p:spPr>
          <a:xfrm>
            <a:off x="198059" y="5117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r>
              <a:rPr lang="en-US" sz="2400" b="1">
                <a:ln w="28575">
                  <a:noFill/>
                </a:ln>
                <a:solidFill>
                  <a:schemeClr val="bg1"/>
                </a:solidFill>
                <a:latin typeface="Logical" panose="020B0503030202020204" pitchFamily="34" charset="0"/>
                <a:ea typeface="Logical" panose="020B0503030202020204" pitchFamily="34" charset="0"/>
                <a:cs typeface="SST Arabic" panose="020B0504030504020204" pitchFamily="34" charset="-78"/>
              </a:rPr>
              <a:t>Key Decisions &amp; Risks</a:t>
            </a:r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A6C61610-D530-DAEB-D0F9-1481429E49D2}"/>
              </a:ext>
            </a:extLst>
          </p:cNvPr>
          <p:cNvSpPr/>
          <p:nvPr/>
        </p:nvSpPr>
        <p:spPr>
          <a:xfrm>
            <a:off x="381803" y="2252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>
              <a:latin typeface="Logical"/>
            </a:endParaRPr>
          </a:p>
        </p:txBody>
      </p:sp>
    </p:spTree>
    <p:extLst>
      <p:ext uri="{BB962C8B-B14F-4D97-AF65-F5344CB8AC3E}">
        <p14:creationId xmlns:p14="http://schemas.microsoft.com/office/powerpoint/2010/main" val="188458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D9F9E-3273-3C43-D5AB-BEEDA246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6">
            <a:extLst>
              <a:ext uri="{FF2B5EF4-FFF2-40B4-BE49-F238E27FC236}">
                <a16:creationId xmlns:a16="http://schemas.microsoft.com/office/drawing/2014/main" id="{C49648C7-AFFD-B6B8-4579-DA750C03A950}"/>
              </a:ext>
            </a:extLst>
          </p:cNvPr>
          <p:cNvSpPr/>
          <p:nvPr/>
        </p:nvSpPr>
        <p:spPr>
          <a:xfrm>
            <a:off x="10479827" y="1087954"/>
            <a:ext cx="1343365" cy="355348"/>
          </a:xfrm>
          <a:prstGeom prst="rect">
            <a:avLst/>
          </a:prstGeom>
          <a:solidFill>
            <a:srgbClr val="05A7D4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100" name="Shape 6">
            <a:extLst>
              <a:ext uri="{FF2B5EF4-FFF2-40B4-BE49-F238E27FC236}">
                <a16:creationId xmlns:a16="http://schemas.microsoft.com/office/drawing/2014/main" id="{066AE3B1-6F17-9CE5-BA29-CA71F0434A7E}"/>
              </a:ext>
            </a:extLst>
          </p:cNvPr>
          <p:cNvSpPr/>
          <p:nvPr/>
        </p:nvSpPr>
        <p:spPr>
          <a:xfrm>
            <a:off x="8392187" y="1087954"/>
            <a:ext cx="2109697" cy="355348"/>
          </a:xfrm>
          <a:prstGeom prst="rect">
            <a:avLst/>
          </a:prstGeom>
          <a:solidFill>
            <a:srgbClr val="058DBF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99" name="Shape 6">
            <a:extLst>
              <a:ext uri="{FF2B5EF4-FFF2-40B4-BE49-F238E27FC236}">
                <a16:creationId xmlns:a16="http://schemas.microsoft.com/office/drawing/2014/main" id="{D6CD4FCF-500F-F826-25A0-641E1DE9B152}"/>
              </a:ext>
            </a:extLst>
          </p:cNvPr>
          <p:cNvSpPr/>
          <p:nvPr/>
        </p:nvSpPr>
        <p:spPr>
          <a:xfrm>
            <a:off x="6304547" y="1087954"/>
            <a:ext cx="2109697" cy="355348"/>
          </a:xfrm>
          <a:prstGeom prst="rect">
            <a:avLst/>
          </a:prstGeom>
          <a:solidFill>
            <a:srgbClr val="05A7D4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95" name="Text 2">
            <a:extLst>
              <a:ext uri="{FF2B5EF4-FFF2-40B4-BE49-F238E27FC236}">
                <a16:creationId xmlns:a16="http://schemas.microsoft.com/office/drawing/2014/main" id="{2047121D-3A9F-D52E-3B43-CA5CF8F83073}"/>
              </a:ext>
            </a:extLst>
          </p:cNvPr>
          <p:cNvSpPr/>
          <p:nvPr/>
        </p:nvSpPr>
        <p:spPr>
          <a:xfrm>
            <a:off x="229403" y="728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Logical"/>
                <a:ea typeface="Calibri"/>
                <a:cs typeface="Calibri"/>
              </a:rPr>
              <a:t>Key Decisions &amp; Risks</a:t>
            </a:r>
            <a:endParaRPr lang="en-US" sz="2800">
              <a:latin typeface="Logical"/>
              <a:ea typeface="Calibri"/>
              <a:cs typeface="Calibri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73C105F6-5993-2D38-AA81-0C0820F6F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" y="11714"/>
            <a:ext cx="12192000" cy="657002"/>
          </a:xfrm>
          <a:prstGeom prst="rect">
            <a:avLst/>
          </a:prstGeom>
        </p:spPr>
      </p:pic>
      <p:sp>
        <p:nvSpPr>
          <p:cNvPr id="97" name="Text 2">
            <a:extLst>
              <a:ext uri="{FF2B5EF4-FFF2-40B4-BE49-F238E27FC236}">
                <a16:creationId xmlns:a16="http://schemas.microsoft.com/office/drawing/2014/main" id="{A982D5B5-ECC7-475A-0E06-851B9E13ECA9}"/>
              </a:ext>
            </a:extLst>
          </p:cNvPr>
          <p:cNvSpPr/>
          <p:nvPr/>
        </p:nvSpPr>
        <p:spPr>
          <a:xfrm>
            <a:off x="198059" y="5117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spcBef>
                <a:spcPct val="20000"/>
              </a:spcBef>
              <a:buNone/>
            </a:pPr>
            <a:r>
              <a:rPr lang="en-US" sz="2400" b="1">
                <a:ln w="28575">
                  <a:noFill/>
                </a:ln>
                <a:solidFill>
                  <a:schemeClr val="bg1"/>
                </a:solidFill>
                <a:latin typeface="Logical"/>
                <a:ea typeface="Calibri"/>
                <a:cs typeface="Calibri"/>
              </a:rPr>
              <a:t>Action Items &amp; Next Steps</a:t>
            </a:r>
          </a:p>
        </p:txBody>
      </p:sp>
      <p:sp>
        <p:nvSpPr>
          <p:cNvPr id="98" name="Text 2">
            <a:extLst>
              <a:ext uri="{FF2B5EF4-FFF2-40B4-BE49-F238E27FC236}">
                <a16:creationId xmlns:a16="http://schemas.microsoft.com/office/drawing/2014/main" id="{40694DBA-4A6C-E186-2B41-1E361D9EB1FD}"/>
              </a:ext>
            </a:extLst>
          </p:cNvPr>
          <p:cNvSpPr/>
          <p:nvPr/>
        </p:nvSpPr>
        <p:spPr>
          <a:xfrm>
            <a:off x="381803" y="2252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>
              <a:latin typeface="Logic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7F95AB-ADB5-B522-3CE5-CF3B94A8F278}"/>
              </a:ext>
            </a:extLst>
          </p:cNvPr>
          <p:cNvSpPr/>
          <p:nvPr/>
        </p:nvSpPr>
        <p:spPr>
          <a:xfrm>
            <a:off x="365760" y="2011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>
              <a:latin typeface="Logic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2C7ED8-8711-BAD5-182F-D13AEFB350E5}"/>
              </a:ext>
            </a:extLst>
          </p:cNvPr>
          <p:cNvSpPr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B4D3"/>
                </a:solidFill>
                <a:latin typeface="Logical"/>
                <a:ea typeface="Calibri"/>
                <a:cs typeface="Calibri"/>
              </a:rPr>
              <a:t>All open actions — Week of 31 July 2026  |  9 action items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19DDDCF-03D8-02A3-FE20-8286CEE6C606}"/>
              </a:ext>
            </a:extLst>
          </p:cNvPr>
          <p:cNvSpPr/>
          <p:nvPr/>
        </p:nvSpPr>
        <p:spPr>
          <a:xfrm>
            <a:off x="365760" y="1024128"/>
            <a:ext cx="11457432" cy="22860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6247176-56F0-D84B-0101-969D6AF583C3}"/>
              </a:ext>
            </a:extLst>
          </p:cNvPr>
          <p:cNvSpPr/>
          <p:nvPr/>
        </p:nvSpPr>
        <p:spPr>
          <a:xfrm>
            <a:off x="365760" y="1087954"/>
            <a:ext cx="5938787" cy="355348"/>
          </a:xfrm>
          <a:prstGeom prst="rect">
            <a:avLst/>
          </a:prstGeom>
          <a:solidFill>
            <a:srgbClr val="00B4D3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A2918F-129A-73EF-12C5-9D479CE3ECEC}"/>
              </a:ext>
            </a:extLst>
          </p:cNvPr>
          <p:cNvSpPr/>
          <p:nvPr/>
        </p:nvSpPr>
        <p:spPr>
          <a:xfrm>
            <a:off x="365760" y="1170432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>
              <a:latin typeface="Logical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3D5CD1F-7BD9-A39B-9D6B-F111AC57D51A}"/>
              </a:ext>
            </a:extLst>
          </p:cNvPr>
          <p:cNvSpPr/>
          <p:nvPr/>
        </p:nvSpPr>
        <p:spPr>
          <a:xfrm>
            <a:off x="685800" y="114675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Logical"/>
                <a:ea typeface="Calibri"/>
                <a:cs typeface="Calibri"/>
              </a:rPr>
              <a:t>Action Item</a:t>
            </a:r>
            <a:endParaRPr lang="en-US" sz="1400">
              <a:latin typeface="Logical"/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7395E4-B4D5-0FC0-4206-5D94F9032534}"/>
              </a:ext>
            </a:extLst>
          </p:cNvPr>
          <p:cNvSpPr/>
          <p:nvPr/>
        </p:nvSpPr>
        <p:spPr>
          <a:xfrm>
            <a:off x="7021109" y="11467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Logical"/>
                <a:ea typeface="Calibri"/>
                <a:cs typeface="Calibri"/>
              </a:rPr>
              <a:t>Owner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D6B1AD-AB03-B394-1C6F-764F82EFFCC7}"/>
              </a:ext>
            </a:extLst>
          </p:cNvPr>
          <p:cNvSpPr/>
          <p:nvPr/>
        </p:nvSpPr>
        <p:spPr>
          <a:xfrm>
            <a:off x="9130806" y="11467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400" b="1">
                <a:solidFill>
                  <a:srgbClr val="FFFFFF"/>
                </a:solidFill>
                <a:latin typeface="Logical"/>
                <a:ea typeface="Calibri"/>
                <a:cs typeface="Calibri"/>
              </a:rPr>
              <a:t>Target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2DAC25B-556F-28ED-8935-A646208D095A}"/>
              </a:ext>
            </a:extLst>
          </p:cNvPr>
          <p:cNvSpPr/>
          <p:nvPr/>
        </p:nvSpPr>
        <p:spPr>
          <a:xfrm>
            <a:off x="10767369" y="11467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Logical"/>
                <a:ea typeface="Calibri"/>
                <a:cs typeface="Calibri"/>
              </a:rPr>
              <a:t>Status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0C50108-A0C2-7CCB-CDBF-8920904A2AA7}"/>
              </a:ext>
            </a:extLst>
          </p:cNvPr>
          <p:cNvSpPr/>
          <p:nvPr/>
        </p:nvSpPr>
        <p:spPr>
          <a:xfrm>
            <a:off x="365760" y="1543070"/>
            <a:ext cx="11457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01C1737-6698-B97D-2B5F-96F5B197BF05}"/>
              </a:ext>
            </a:extLst>
          </p:cNvPr>
          <p:cNvSpPr/>
          <p:nvPr/>
        </p:nvSpPr>
        <p:spPr>
          <a:xfrm>
            <a:off x="642714" y="161622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Deliver final Program Portal workflow diagrams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381A111-4B3E-2C22-C308-1C2B4957FC66}"/>
              </a:ext>
            </a:extLst>
          </p:cNvPr>
          <p:cNvSpPr/>
          <p:nvPr/>
        </p:nvSpPr>
        <p:spPr>
          <a:xfrm>
            <a:off x="6236208" y="163451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TenTwenty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725D3F8-F86D-0903-765F-2B3473919999}"/>
              </a:ext>
            </a:extLst>
          </p:cNvPr>
          <p:cNvSpPr/>
          <p:nvPr/>
        </p:nvSpPr>
        <p:spPr>
          <a:xfrm>
            <a:off x="8613648" y="163451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Week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EDBA041-98F3-FAD7-330F-333E8EAD9147}"/>
              </a:ext>
            </a:extLst>
          </p:cNvPr>
          <p:cNvSpPr/>
          <p:nvPr/>
        </p:nvSpPr>
        <p:spPr>
          <a:xfrm>
            <a:off x="10561320" y="165279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In Progress</a:t>
            </a: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D7CCB28-DFDD-73E4-E652-49A4D4F3A19D}"/>
              </a:ext>
            </a:extLst>
          </p:cNvPr>
          <p:cNvSpPr/>
          <p:nvPr/>
        </p:nvSpPr>
        <p:spPr>
          <a:xfrm>
            <a:off x="365760" y="2055134"/>
            <a:ext cx="11457432" cy="475488"/>
          </a:xfrm>
          <a:prstGeom prst="rect">
            <a:avLst/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D820BE4-BBA7-F77A-1F4E-5EFDDBE187CC}"/>
              </a:ext>
            </a:extLst>
          </p:cNvPr>
          <p:cNvSpPr/>
          <p:nvPr/>
        </p:nvSpPr>
        <p:spPr>
          <a:xfrm>
            <a:off x="642714" y="212828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Review and approve workflow diagrams</a:t>
            </a: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B03B389-B6C9-5444-C188-1FEE66699B44}"/>
              </a:ext>
            </a:extLst>
          </p:cNvPr>
          <p:cNvSpPr/>
          <p:nvPr/>
        </p:nvSpPr>
        <p:spPr>
          <a:xfrm>
            <a:off x="6236208" y="214657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WGS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1A2F8FA-54BC-1C53-D52E-88A7B543AF25}"/>
              </a:ext>
            </a:extLst>
          </p:cNvPr>
          <p:cNvSpPr/>
          <p:nvPr/>
        </p:nvSpPr>
        <p:spPr>
          <a:xfrm>
            <a:off x="8613648" y="214657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Week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8973B22-F0DB-5DC7-D04B-AD9600210AC9}"/>
              </a:ext>
            </a:extLst>
          </p:cNvPr>
          <p:cNvSpPr/>
          <p:nvPr/>
        </p:nvSpPr>
        <p:spPr>
          <a:xfrm>
            <a:off x="10561320" y="216486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Pending</a:t>
            </a: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3E2687E-8A50-A390-2B32-44AF4549FE70}"/>
              </a:ext>
            </a:extLst>
          </p:cNvPr>
          <p:cNvSpPr/>
          <p:nvPr/>
        </p:nvSpPr>
        <p:spPr>
          <a:xfrm>
            <a:off x="365760" y="2586936"/>
            <a:ext cx="11457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A4945EC-4E57-4BDF-59F2-BA51EE4FA973}"/>
              </a:ext>
            </a:extLst>
          </p:cNvPr>
          <p:cNvSpPr/>
          <p:nvPr/>
        </p:nvSpPr>
        <p:spPr>
          <a:xfrm>
            <a:off x="642714" y="266008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Continue functional discovery: International Delegation, International Organisation &amp; Guest/Speaker modules</a:t>
            </a: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25DF89F6-8BBB-6A89-96C3-3C9A166A4E34}"/>
              </a:ext>
            </a:extLst>
          </p:cNvPr>
          <p:cNvSpPr/>
          <p:nvPr/>
        </p:nvSpPr>
        <p:spPr>
          <a:xfrm>
            <a:off x="6236208" y="2678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Salesforce &amp; WGS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B128D771-0605-042B-2CFB-40A3DA4BCDC2}"/>
              </a:ext>
            </a:extLst>
          </p:cNvPr>
          <p:cNvSpPr/>
          <p:nvPr/>
        </p:nvSpPr>
        <p:spPr>
          <a:xfrm>
            <a:off x="8613648" y="26783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Ongoing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7B65071F-A3B6-F5A3-0345-C6D457C18449}"/>
              </a:ext>
            </a:extLst>
          </p:cNvPr>
          <p:cNvSpPr/>
          <p:nvPr/>
        </p:nvSpPr>
        <p:spPr>
          <a:xfrm>
            <a:off x="10561320" y="26966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In Progress</a:t>
            </a: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620C72AB-D5F3-7758-3B1C-EA255F4C1C0F}"/>
              </a:ext>
            </a:extLst>
          </p:cNvPr>
          <p:cNvSpPr/>
          <p:nvPr/>
        </p:nvSpPr>
        <p:spPr>
          <a:xfrm>
            <a:off x="365760" y="3099000"/>
            <a:ext cx="11457432" cy="475488"/>
          </a:xfrm>
          <a:prstGeom prst="rect">
            <a:avLst/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402736C-654D-B208-6F60-E17B2FE07B0D}"/>
              </a:ext>
            </a:extLst>
          </p:cNvPr>
          <p:cNvSpPr/>
          <p:nvPr/>
        </p:nvSpPr>
        <p:spPr>
          <a:xfrm>
            <a:off x="642714" y="317215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Complete detailed solution architecture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C55A66E7-7656-803A-E0CA-C8865335D874}"/>
              </a:ext>
            </a:extLst>
          </p:cNvPr>
          <p:cNvSpPr/>
          <p:nvPr/>
        </p:nvSpPr>
        <p:spPr>
          <a:xfrm>
            <a:off x="6236208" y="3190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Salesforce</a:t>
            </a: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B6C93205-1C06-5634-7B35-C9A8159436E7}"/>
              </a:ext>
            </a:extLst>
          </p:cNvPr>
          <p:cNvSpPr/>
          <p:nvPr/>
        </p:nvSpPr>
        <p:spPr>
          <a:xfrm>
            <a:off x="8613648" y="3190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Ongoing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E59FE81B-2395-30B7-872A-C72F94DD1ECB}"/>
              </a:ext>
            </a:extLst>
          </p:cNvPr>
          <p:cNvSpPr/>
          <p:nvPr/>
        </p:nvSpPr>
        <p:spPr>
          <a:xfrm>
            <a:off x="10561320" y="32087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In Progress</a:t>
            </a: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22F22AB-6660-D985-9177-74B6D6356F42}"/>
              </a:ext>
            </a:extLst>
          </p:cNvPr>
          <p:cNvSpPr/>
          <p:nvPr/>
        </p:nvSpPr>
        <p:spPr>
          <a:xfrm>
            <a:off x="365760" y="3611064"/>
            <a:ext cx="11457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FFA2F279-5589-91C0-BE08-BA54A651EA88}"/>
              </a:ext>
            </a:extLst>
          </p:cNvPr>
          <p:cNvSpPr/>
          <p:nvPr/>
        </p:nvSpPr>
        <p:spPr>
          <a:xfrm>
            <a:off x="642714" y="368421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Review mobile application wireframes</a:t>
            </a: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23068E56-DF02-2A47-A863-0E52203BAF0D}"/>
              </a:ext>
            </a:extLst>
          </p:cNvPr>
          <p:cNvSpPr/>
          <p:nvPr/>
        </p:nvSpPr>
        <p:spPr>
          <a:xfrm>
            <a:off x="6236208" y="37025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WGS</a:t>
            </a: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466A416-81E7-455F-F8F5-7738299E5F3C}"/>
              </a:ext>
            </a:extLst>
          </p:cNvPr>
          <p:cNvSpPr/>
          <p:nvPr/>
        </p:nvSpPr>
        <p:spPr>
          <a:xfrm>
            <a:off x="8613648" y="37025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Week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520D8D06-03E4-078D-975A-D02165C79AA6}"/>
              </a:ext>
            </a:extLst>
          </p:cNvPr>
          <p:cNvSpPr/>
          <p:nvPr/>
        </p:nvSpPr>
        <p:spPr>
          <a:xfrm>
            <a:off x="10561320" y="37207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Pending</a:t>
            </a:r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832C8A9-FAE0-26C6-900D-9DC6490165F6}"/>
              </a:ext>
            </a:extLst>
          </p:cNvPr>
          <p:cNvSpPr/>
          <p:nvPr/>
        </p:nvSpPr>
        <p:spPr>
          <a:xfrm>
            <a:off x="365760" y="4123128"/>
            <a:ext cx="11457432" cy="475488"/>
          </a:xfrm>
          <a:prstGeom prst="rect">
            <a:avLst/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6FD1BB36-F11E-85B2-CC6C-893FE78EEB35}"/>
              </a:ext>
            </a:extLst>
          </p:cNvPr>
          <p:cNvSpPr/>
          <p:nvPr/>
        </p:nvSpPr>
        <p:spPr>
          <a:xfrm>
            <a:off x="642714" y="41962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dirty="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Submit consolidated screen-recorded mobile feedback</a:t>
            </a: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52B21157-A7AF-67FC-BB6C-48A9D924BCBD}"/>
              </a:ext>
            </a:extLst>
          </p:cNvPr>
          <p:cNvSpPr/>
          <p:nvPr/>
        </p:nvSpPr>
        <p:spPr>
          <a:xfrm>
            <a:off x="6236208" y="42145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WGS</a:t>
            </a: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C48BC8C7-DDE3-2A40-2CB2-E2D22EBE8658}"/>
              </a:ext>
            </a:extLst>
          </p:cNvPr>
          <p:cNvSpPr/>
          <p:nvPr/>
        </p:nvSpPr>
        <p:spPr>
          <a:xfrm>
            <a:off x="8613648" y="4214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Week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CBF9C215-F562-9A63-8874-E3C5A39C1605}"/>
              </a:ext>
            </a:extLst>
          </p:cNvPr>
          <p:cNvSpPr/>
          <p:nvPr/>
        </p:nvSpPr>
        <p:spPr>
          <a:xfrm>
            <a:off x="10561320" y="4232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Pending</a:t>
            </a:r>
          </a:p>
        </p:txBody>
      </p:sp>
      <p:sp>
        <p:nvSpPr>
          <p:cNvPr id="102" name="Dup 102"/>
          <p:cNvSpPr/>
          <p:nvPr/>
        </p:nvSpPr>
        <p:spPr>
          <a:xfrm>
            <a:off x="365760" y="4635192"/>
            <a:ext cx="11457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103" name="Dup 103"/>
          <p:cNvSpPr/>
          <p:nvPr/>
        </p:nvSpPr>
        <p:spPr>
          <a:xfrm>
            <a:off x="642714" y="470834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dirty="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Confirm unified branding approach across AI Agents</a:t>
            </a:r>
          </a:p>
        </p:txBody>
      </p:sp>
      <p:sp>
        <p:nvSpPr>
          <p:cNvPr id="104" name="Dup 104"/>
          <p:cNvSpPr/>
          <p:nvPr/>
        </p:nvSpPr>
        <p:spPr>
          <a:xfrm>
            <a:off x="6236208" y="47266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WGS &amp; TenTwenty</a:t>
            </a:r>
          </a:p>
        </p:txBody>
      </p:sp>
      <p:sp>
        <p:nvSpPr>
          <p:cNvPr id="105" name="Dup 105"/>
          <p:cNvSpPr/>
          <p:nvPr/>
        </p:nvSpPr>
        <p:spPr>
          <a:xfrm>
            <a:off x="8613648" y="4726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Workshop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106" name="Dup 106"/>
          <p:cNvSpPr/>
          <p:nvPr/>
        </p:nvSpPr>
        <p:spPr>
          <a:xfrm>
            <a:off x="10561320" y="47449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Pending</a:t>
            </a:r>
          </a:p>
        </p:txBody>
      </p:sp>
      <p:sp>
        <p:nvSpPr>
          <p:cNvPr id="107" name="Dup 107"/>
          <p:cNvSpPr/>
          <p:nvPr/>
        </p:nvSpPr>
        <p:spPr>
          <a:xfrm>
            <a:off x="365760" y="5147256"/>
            <a:ext cx="11457432" cy="475488"/>
          </a:xfrm>
          <a:prstGeom prst="rect">
            <a:avLst/>
          </a:prstGeom>
          <a:solidFill>
            <a:srgbClr val="F4F8FA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108" name="Dup 108"/>
          <p:cNvSpPr/>
          <p:nvPr/>
        </p:nvSpPr>
        <p:spPr>
          <a:xfrm>
            <a:off x="642714" y="522040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dirty="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Decide MuleSoft deployment model (Cloud vs On-Prem)</a:t>
            </a:r>
          </a:p>
        </p:txBody>
      </p:sp>
      <p:sp>
        <p:nvSpPr>
          <p:cNvPr id="109" name="Dup 109"/>
          <p:cNvSpPr/>
          <p:nvPr/>
        </p:nvSpPr>
        <p:spPr>
          <a:xfrm>
            <a:off x="6236208" y="5238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WGS &amp; Salesforce</a:t>
            </a:r>
          </a:p>
        </p:txBody>
      </p:sp>
      <p:sp>
        <p:nvSpPr>
          <p:cNvPr id="110" name="Dup 110"/>
          <p:cNvSpPr/>
          <p:nvPr/>
        </p:nvSpPr>
        <p:spPr>
          <a:xfrm>
            <a:off x="8613648" y="5238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Week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111" name="Dup 111"/>
          <p:cNvSpPr/>
          <p:nvPr/>
        </p:nvSpPr>
        <p:spPr>
          <a:xfrm>
            <a:off x="10561320" y="52569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Pending</a:t>
            </a:r>
          </a:p>
        </p:txBody>
      </p:sp>
      <p:sp>
        <p:nvSpPr>
          <p:cNvPr id="112" name="Dup 112"/>
          <p:cNvSpPr/>
          <p:nvPr/>
        </p:nvSpPr>
        <p:spPr>
          <a:xfrm>
            <a:off x="365760" y="5659320"/>
            <a:ext cx="11457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AF5"/>
            </a:solidFill>
            <a:prstDash val="solid"/>
          </a:ln>
        </p:spPr>
        <p:txBody>
          <a:bodyPr/>
          <a:lstStyle/>
          <a:p>
            <a:endParaRPr lang="en-US">
              <a:latin typeface="Logical"/>
              <a:ea typeface="Calibri"/>
              <a:cs typeface="Calibri"/>
            </a:endParaRPr>
          </a:p>
        </p:txBody>
      </p:sp>
      <p:sp>
        <p:nvSpPr>
          <p:cNvPr id="113" name="Dup 113"/>
          <p:cNvSpPr/>
          <p:nvPr/>
        </p:nvSpPr>
        <p:spPr>
          <a:xfrm>
            <a:off x="642714" y="573247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dirty="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Confirm RACI and finalise Jira &amp; governance documentation; complete 1020 partner onboarding</a:t>
            </a:r>
          </a:p>
        </p:txBody>
      </p:sp>
      <p:sp>
        <p:nvSpPr>
          <p:cNvPr id="114" name="Dup 114"/>
          <p:cNvSpPr/>
          <p:nvPr/>
        </p:nvSpPr>
        <p:spPr>
          <a:xfrm>
            <a:off x="6236208" y="57507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Logical"/>
                <a:ea typeface="Calibri"/>
                <a:cs typeface="Calibri"/>
              </a:rPr>
              <a:t>WGS &amp; Salesforce</a:t>
            </a:r>
          </a:p>
        </p:txBody>
      </p:sp>
      <p:sp>
        <p:nvSpPr>
          <p:cNvPr id="115" name="Dup 115"/>
          <p:cNvSpPr/>
          <p:nvPr/>
        </p:nvSpPr>
        <p:spPr>
          <a:xfrm>
            <a:off x="8613648" y="5750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Logical"/>
                <a:ea typeface="Calibri"/>
                <a:cs typeface="Calibri"/>
              </a:rPr>
              <a:t>Next Week</a:t>
            </a:r>
            <a:endParaRPr lang="en-US" sz="1000">
              <a:latin typeface="Logical"/>
              <a:ea typeface="Calibri"/>
              <a:cs typeface="Calibri"/>
            </a:endParaRPr>
          </a:p>
        </p:txBody>
      </p:sp>
      <p:sp>
        <p:nvSpPr>
          <p:cNvPr id="116" name="Dup 116"/>
          <p:cNvSpPr/>
          <p:nvPr/>
        </p:nvSpPr>
        <p:spPr>
          <a:xfrm>
            <a:off x="10561320" y="57690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2060"/>
                </a:solidFill>
                <a:latin typeface="Logical"/>
                <a:ea typeface="Calibri"/>
                <a:cs typeface="Calibri"/>
              </a:rPr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163785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1005</Words>
  <Application>Microsoft Office PowerPoint</Application>
  <PresentationFormat>Widescreen</PresentationFormat>
  <Paragraphs>206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Certo Sans Bold</vt:lpstr>
      <vt:lpstr>Certo Sans Light</vt:lpstr>
      <vt:lpstr>Logical</vt:lpstr>
      <vt:lpstr>SST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Hind Yaqoob</cp:lastModifiedBy>
  <cp:revision>5</cp:revision>
  <dcterms:created xsi:type="dcterms:W3CDTF">2026-05-22T05:24:59Z</dcterms:created>
  <dcterms:modified xsi:type="dcterms:W3CDTF">2026-07-31T10:30:11Z</dcterms:modified>
</cp:coreProperties>
</file>